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1"/>
  </p:notesMasterIdLst>
  <p:sldIdLst>
    <p:sldId id="474" r:id="rId2"/>
    <p:sldId id="377" r:id="rId3"/>
    <p:sldId id="433" r:id="rId4"/>
    <p:sldId id="481" r:id="rId5"/>
    <p:sldId id="482" r:id="rId6"/>
    <p:sldId id="483" r:id="rId7"/>
    <p:sldId id="493" r:id="rId8"/>
    <p:sldId id="516" r:id="rId9"/>
    <p:sldId id="514" r:id="rId10"/>
    <p:sldId id="495" r:id="rId11"/>
    <p:sldId id="513" r:id="rId12"/>
    <p:sldId id="490" r:id="rId13"/>
    <p:sldId id="511" r:id="rId14"/>
    <p:sldId id="491" r:id="rId15"/>
    <p:sldId id="435" r:id="rId16"/>
    <p:sldId id="485" r:id="rId17"/>
    <p:sldId id="487" r:id="rId18"/>
    <p:sldId id="492" r:id="rId19"/>
    <p:sldId id="517" r:id="rId20"/>
  </p:sldIdLst>
  <p:sldSz cx="12192000" cy="6858000"/>
  <p:notesSz cx="6794500" cy="9906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22DE5C"/>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6DB23E-7C17-4FD5-A4BD-0D2725D01D67}" v="11" dt="2023-01-20T10:40:44.8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840" autoAdjust="0"/>
    <p:restoredTop sz="94694"/>
  </p:normalViewPr>
  <p:slideViewPr>
    <p:cSldViewPr snapToGrid="0">
      <p:cViewPr varScale="1">
        <p:scale>
          <a:sx n="114" d="100"/>
          <a:sy n="114" d="100"/>
        </p:scale>
        <p:origin x="168" y="328"/>
      </p:cViewPr>
      <p:guideLst/>
    </p:cSldViewPr>
  </p:slideViewPr>
  <p:notesTextViewPr>
    <p:cViewPr>
      <p:scale>
        <a:sx n="1" d="1"/>
        <a:sy n="1" d="1"/>
      </p:scale>
      <p:origin x="0" y="0"/>
    </p:cViewPr>
  </p:notesTextViewPr>
  <p:sorterViewPr>
    <p:cViewPr>
      <p:scale>
        <a:sx n="100" d="100"/>
        <a:sy n="100" d="100"/>
      </p:scale>
      <p:origin x="0" y="-41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 Bird" userId="972cd707-37b4-43d1-9129-42033b26a2c3" providerId="ADAL" clId="{3B6DB23E-7C17-4FD5-A4BD-0D2725D01D67}"/>
    <pc:docChg chg="custSel addSld delSld modSld sldOrd">
      <pc:chgData name="Jon Bird" userId="972cd707-37b4-43d1-9129-42033b26a2c3" providerId="ADAL" clId="{3B6DB23E-7C17-4FD5-A4BD-0D2725D01D67}" dt="2023-01-20T10:51:51.183" v="353" actId="113"/>
      <pc:docMkLst>
        <pc:docMk/>
      </pc:docMkLst>
      <pc:sldChg chg="add">
        <pc:chgData name="Jon Bird" userId="972cd707-37b4-43d1-9129-42033b26a2c3" providerId="ADAL" clId="{3B6DB23E-7C17-4FD5-A4BD-0D2725D01D67}" dt="2023-01-20T10:05:40.328" v="1"/>
        <pc:sldMkLst>
          <pc:docMk/>
          <pc:sldMk cId="1815125568" sldId="377"/>
        </pc:sldMkLst>
      </pc:sldChg>
      <pc:sldChg chg="modSp add mod">
        <pc:chgData name="Jon Bird" userId="972cd707-37b4-43d1-9129-42033b26a2c3" providerId="ADAL" clId="{3B6DB23E-7C17-4FD5-A4BD-0D2725D01D67}" dt="2023-01-20T10:07:08.213" v="51" actId="14100"/>
        <pc:sldMkLst>
          <pc:docMk/>
          <pc:sldMk cId="3632718216" sldId="433"/>
        </pc:sldMkLst>
        <pc:spChg chg="mod">
          <ac:chgData name="Jon Bird" userId="972cd707-37b4-43d1-9129-42033b26a2c3" providerId="ADAL" clId="{3B6DB23E-7C17-4FD5-A4BD-0D2725D01D67}" dt="2023-01-20T10:06:35.384" v="5" actId="122"/>
          <ac:spMkLst>
            <pc:docMk/>
            <pc:sldMk cId="3632718216" sldId="433"/>
            <ac:spMk id="2" creationId="{00000000-0000-0000-0000-000000000000}"/>
          </ac:spMkLst>
        </pc:spChg>
        <pc:spChg chg="mod">
          <ac:chgData name="Jon Bird" userId="972cd707-37b4-43d1-9129-42033b26a2c3" providerId="ADAL" clId="{3B6DB23E-7C17-4FD5-A4BD-0D2725D01D67}" dt="2023-01-20T10:07:08.213" v="51" actId="14100"/>
          <ac:spMkLst>
            <pc:docMk/>
            <pc:sldMk cId="3632718216" sldId="433"/>
            <ac:spMk id="3" creationId="{00000000-0000-0000-0000-000000000000}"/>
          </ac:spMkLst>
        </pc:spChg>
      </pc:sldChg>
      <pc:sldChg chg="add">
        <pc:chgData name="Jon Bird" userId="972cd707-37b4-43d1-9129-42033b26a2c3" providerId="ADAL" clId="{3B6DB23E-7C17-4FD5-A4BD-0D2725D01D67}" dt="2023-01-20T10:40:44.801" v="89"/>
        <pc:sldMkLst>
          <pc:docMk/>
          <pc:sldMk cId="2978523040" sldId="435"/>
        </pc:sldMkLst>
      </pc:sldChg>
      <pc:sldChg chg="del">
        <pc:chgData name="Jon Bird" userId="972cd707-37b4-43d1-9129-42033b26a2c3" providerId="ADAL" clId="{3B6DB23E-7C17-4FD5-A4BD-0D2725D01D67}" dt="2023-01-20T10:27:42.521" v="74" actId="47"/>
        <pc:sldMkLst>
          <pc:docMk/>
          <pc:sldMk cId="330821840" sldId="488"/>
        </pc:sldMkLst>
      </pc:sldChg>
      <pc:sldChg chg="ord">
        <pc:chgData name="Jon Bird" userId="972cd707-37b4-43d1-9129-42033b26a2c3" providerId="ADAL" clId="{3B6DB23E-7C17-4FD5-A4BD-0D2725D01D67}" dt="2023-01-20T10:39:19.704" v="85"/>
        <pc:sldMkLst>
          <pc:docMk/>
          <pc:sldMk cId="1752368740" sldId="489"/>
        </pc:sldMkLst>
      </pc:sldChg>
      <pc:sldChg chg="ord">
        <pc:chgData name="Jon Bird" userId="972cd707-37b4-43d1-9129-42033b26a2c3" providerId="ADAL" clId="{3B6DB23E-7C17-4FD5-A4BD-0D2725D01D67}" dt="2023-01-20T10:39:19.704" v="85"/>
        <pc:sldMkLst>
          <pc:docMk/>
          <pc:sldMk cId="4071980955" sldId="490"/>
        </pc:sldMkLst>
      </pc:sldChg>
      <pc:sldChg chg="delSp modSp mod ord">
        <pc:chgData name="Jon Bird" userId="972cd707-37b4-43d1-9129-42033b26a2c3" providerId="ADAL" clId="{3B6DB23E-7C17-4FD5-A4BD-0D2725D01D67}" dt="2023-01-20T10:51:51.183" v="353" actId="113"/>
        <pc:sldMkLst>
          <pc:docMk/>
          <pc:sldMk cId="2431964026" sldId="491"/>
        </pc:sldMkLst>
        <pc:spChg chg="mod">
          <ac:chgData name="Jon Bird" userId="972cd707-37b4-43d1-9129-42033b26a2c3" providerId="ADAL" clId="{3B6DB23E-7C17-4FD5-A4BD-0D2725D01D67}" dt="2023-01-20T10:51:51.183" v="353" actId="113"/>
          <ac:spMkLst>
            <pc:docMk/>
            <pc:sldMk cId="2431964026" sldId="491"/>
            <ac:spMk id="3" creationId="{00000000-0000-0000-0000-000000000000}"/>
          </ac:spMkLst>
        </pc:spChg>
        <pc:picChg chg="del">
          <ac:chgData name="Jon Bird" userId="972cd707-37b4-43d1-9129-42033b26a2c3" providerId="ADAL" clId="{3B6DB23E-7C17-4FD5-A4BD-0D2725D01D67}" dt="2023-01-20T10:27:59.202" v="75" actId="478"/>
          <ac:picMkLst>
            <pc:docMk/>
            <pc:sldMk cId="2431964026" sldId="491"/>
            <ac:picMk id="4" creationId="{00000000-0000-0000-0000-000000000000}"/>
          </ac:picMkLst>
        </pc:picChg>
      </pc:sldChg>
      <pc:sldChg chg="add">
        <pc:chgData name="Jon Bird" userId="972cd707-37b4-43d1-9129-42033b26a2c3" providerId="ADAL" clId="{3B6DB23E-7C17-4FD5-A4BD-0D2725D01D67}" dt="2023-01-20T10:16:56.734" v="58"/>
        <pc:sldMkLst>
          <pc:docMk/>
          <pc:sldMk cId="3219680952" sldId="493"/>
        </pc:sldMkLst>
      </pc:sldChg>
      <pc:sldChg chg="add">
        <pc:chgData name="Jon Bird" userId="972cd707-37b4-43d1-9129-42033b26a2c3" providerId="ADAL" clId="{3B6DB23E-7C17-4FD5-A4BD-0D2725D01D67}" dt="2023-01-20T10:16:56.734" v="58"/>
        <pc:sldMkLst>
          <pc:docMk/>
          <pc:sldMk cId="1615833735" sldId="495"/>
        </pc:sldMkLst>
      </pc:sldChg>
      <pc:sldChg chg="add">
        <pc:chgData name="Jon Bird" userId="972cd707-37b4-43d1-9129-42033b26a2c3" providerId="ADAL" clId="{3B6DB23E-7C17-4FD5-A4BD-0D2725D01D67}" dt="2023-01-19T13:16:32.930" v="0"/>
        <pc:sldMkLst>
          <pc:docMk/>
          <pc:sldMk cId="1065940223" sldId="497"/>
        </pc:sldMkLst>
      </pc:sldChg>
      <pc:sldChg chg="addSp modSp add mod ord">
        <pc:chgData name="Jon Bird" userId="972cd707-37b4-43d1-9129-42033b26a2c3" providerId="ADAL" clId="{3B6DB23E-7C17-4FD5-A4BD-0D2725D01D67}" dt="2023-01-20T10:50:37.248" v="114"/>
        <pc:sldMkLst>
          <pc:docMk/>
          <pc:sldMk cId="2893386999" sldId="498"/>
        </pc:sldMkLst>
        <pc:spChg chg="mod">
          <ac:chgData name="Jon Bird" userId="972cd707-37b4-43d1-9129-42033b26a2c3" providerId="ADAL" clId="{3B6DB23E-7C17-4FD5-A4BD-0D2725D01D67}" dt="2023-01-20T10:47:42.578" v="103" actId="207"/>
          <ac:spMkLst>
            <pc:docMk/>
            <pc:sldMk cId="2893386999" sldId="498"/>
            <ac:spMk id="2" creationId="{00000000-0000-0000-0000-000000000000}"/>
          </ac:spMkLst>
        </pc:spChg>
        <pc:spChg chg="mod">
          <ac:chgData name="Jon Bird" userId="972cd707-37b4-43d1-9129-42033b26a2c3" providerId="ADAL" clId="{3B6DB23E-7C17-4FD5-A4BD-0D2725D01D67}" dt="2023-01-20T10:47:37.801" v="101" actId="20577"/>
          <ac:spMkLst>
            <pc:docMk/>
            <pc:sldMk cId="2893386999" sldId="498"/>
            <ac:spMk id="3" creationId="{00000000-0000-0000-0000-000000000000}"/>
          </ac:spMkLst>
        </pc:spChg>
        <pc:picChg chg="add mod modCrop">
          <ac:chgData name="Jon Bird" userId="972cd707-37b4-43d1-9129-42033b26a2c3" providerId="ADAL" clId="{3B6DB23E-7C17-4FD5-A4BD-0D2725D01D67}" dt="2023-01-20T10:48:19.841" v="112" actId="1076"/>
          <ac:picMkLst>
            <pc:docMk/>
            <pc:sldMk cId="2893386999" sldId="498"/>
            <ac:picMk id="5" creationId="{A9A419BD-0152-0AAE-5AAD-4C1F8FA62139}"/>
          </ac:picMkLst>
        </pc:picChg>
      </pc:sldChg>
      <pc:sldChg chg="delSp add del setBg delDesignElem">
        <pc:chgData name="Jon Bird" userId="972cd707-37b4-43d1-9129-42033b26a2c3" providerId="ADAL" clId="{3B6DB23E-7C17-4FD5-A4BD-0D2725D01D67}" dt="2023-01-20T10:36:23.526" v="82" actId="47"/>
        <pc:sldMkLst>
          <pc:docMk/>
          <pc:sldMk cId="828034140" sldId="501"/>
        </pc:sldMkLst>
        <pc:spChg chg="del">
          <ac:chgData name="Jon Bird" userId="972cd707-37b4-43d1-9129-42033b26a2c3" providerId="ADAL" clId="{3B6DB23E-7C17-4FD5-A4BD-0D2725D01D67}" dt="2023-01-20T10:16:56.734" v="58"/>
          <ac:spMkLst>
            <pc:docMk/>
            <pc:sldMk cId="828034140" sldId="501"/>
            <ac:spMk id="17" creationId="{B50AB553-2A96-4A92-96F2-93548E096954}"/>
          </ac:spMkLst>
        </pc:spChg>
      </pc:sldChg>
      <pc:sldChg chg="add">
        <pc:chgData name="Jon Bird" userId="972cd707-37b4-43d1-9129-42033b26a2c3" providerId="ADAL" clId="{3B6DB23E-7C17-4FD5-A4BD-0D2725D01D67}" dt="2023-01-19T13:16:32.930" v="0"/>
        <pc:sldMkLst>
          <pc:docMk/>
          <pc:sldMk cId="2270504553" sldId="509"/>
        </pc:sldMkLst>
      </pc:sldChg>
      <pc:sldChg chg="addSp delSp modSp new mod modAnim">
        <pc:chgData name="Jon Bird" userId="972cd707-37b4-43d1-9129-42033b26a2c3" providerId="ADAL" clId="{3B6DB23E-7C17-4FD5-A4BD-0D2725D01D67}" dt="2023-01-20T10:15:55.250" v="56" actId="1076"/>
        <pc:sldMkLst>
          <pc:docMk/>
          <pc:sldMk cId="2060038210" sldId="510"/>
        </pc:sldMkLst>
        <pc:spChg chg="del">
          <ac:chgData name="Jon Bird" userId="972cd707-37b4-43d1-9129-42033b26a2c3" providerId="ADAL" clId="{3B6DB23E-7C17-4FD5-A4BD-0D2725D01D67}" dt="2023-01-20T10:15:43.318" v="53"/>
          <ac:spMkLst>
            <pc:docMk/>
            <pc:sldMk cId="2060038210" sldId="510"/>
            <ac:spMk id="3" creationId="{37AFEDFF-A293-7C2D-D98E-EC6DBE9E0A36}"/>
          </ac:spMkLst>
        </pc:spChg>
        <pc:picChg chg="add mod">
          <ac:chgData name="Jon Bird" userId="972cd707-37b4-43d1-9129-42033b26a2c3" providerId="ADAL" clId="{3B6DB23E-7C17-4FD5-A4BD-0D2725D01D67}" dt="2023-01-20T10:15:55.250" v="56" actId="1076"/>
          <ac:picMkLst>
            <pc:docMk/>
            <pc:sldMk cId="2060038210" sldId="510"/>
            <ac:picMk id="4" creationId="{B53D0D63-8F2B-D71D-153A-262D14649A22}"/>
          </ac:picMkLst>
        </pc:picChg>
      </pc:sldChg>
      <pc:sldChg chg="modSp add mod">
        <pc:chgData name="Jon Bird" userId="972cd707-37b4-43d1-9129-42033b26a2c3" providerId="ADAL" clId="{3B6DB23E-7C17-4FD5-A4BD-0D2725D01D67}" dt="2023-01-20T10:26:43.098" v="68" actId="207"/>
        <pc:sldMkLst>
          <pc:docMk/>
          <pc:sldMk cId="3779400383" sldId="511"/>
        </pc:sldMkLst>
        <pc:spChg chg="mod">
          <ac:chgData name="Jon Bird" userId="972cd707-37b4-43d1-9129-42033b26a2c3" providerId="ADAL" clId="{3B6DB23E-7C17-4FD5-A4BD-0D2725D01D67}" dt="2023-01-20T10:26:43.098" v="68" actId="207"/>
          <ac:spMkLst>
            <pc:docMk/>
            <pc:sldMk cId="3779400383" sldId="511"/>
            <ac:spMk id="2" creationId="{00000000-0000-0000-0000-000000000000}"/>
          </ac:spMkLst>
        </pc:spChg>
      </pc:sldChg>
      <pc:sldChg chg="addSp modSp new mod modAnim">
        <pc:chgData name="Jon Bird" userId="972cd707-37b4-43d1-9129-42033b26a2c3" providerId="ADAL" clId="{3B6DB23E-7C17-4FD5-A4BD-0D2725D01D67}" dt="2023-01-20T10:27:24.601" v="73" actId="1076"/>
        <pc:sldMkLst>
          <pc:docMk/>
          <pc:sldMk cId="2764108185" sldId="512"/>
        </pc:sldMkLst>
        <pc:picChg chg="add mod">
          <ac:chgData name="Jon Bird" userId="972cd707-37b4-43d1-9129-42033b26a2c3" providerId="ADAL" clId="{3B6DB23E-7C17-4FD5-A4BD-0D2725D01D67}" dt="2023-01-20T10:27:24.601" v="73" actId="1076"/>
          <ac:picMkLst>
            <pc:docMk/>
            <pc:sldMk cId="2764108185" sldId="512"/>
            <ac:picMk id="3" creationId="{F710C94F-B55B-AA3F-4101-0545A9801F47}"/>
          </ac:picMkLst>
        </pc:picChg>
      </pc:sldChg>
      <pc:sldChg chg="addSp modSp new mod ord modAnim">
        <pc:chgData name="Jon Bird" userId="972cd707-37b4-43d1-9129-42033b26a2c3" providerId="ADAL" clId="{3B6DB23E-7C17-4FD5-A4BD-0D2725D01D67}" dt="2023-01-20T10:43:42.693" v="91"/>
        <pc:sldMkLst>
          <pc:docMk/>
          <pc:sldMk cId="3050570261" sldId="513"/>
        </pc:sldMkLst>
        <pc:picChg chg="add mod">
          <ac:chgData name="Jon Bird" userId="972cd707-37b4-43d1-9129-42033b26a2c3" providerId="ADAL" clId="{3B6DB23E-7C17-4FD5-A4BD-0D2725D01D67}" dt="2023-01-20T10:35:42.361" v="80" actId="1076"/>
          <ac:picMkLst>
            <pc:docMk/>
            <pc:sldMk cId="3050570261" sldId="513"/>
            <ac:picMk id="3" creationId="{D3F81435-D086-3FF7-9B54-E1DFAB18C23E}"/>
          </ac:picMkLst>
        </pc:picChg>
      </pc:sldChg>
      <pc:sldChg chg="add">
        <pc:chgData name="Jon Bird" userId="972cd707-37b4-43d1-9129-42033b26a2c3" providerId="ADAL" clId="{3B6DB23E-7C17-4FD5-A4BD-0D2725D01D67}" dt="2023-01-20T10:36:18.844" v="81"/>
        <pc:sldMkLst>
          <pc:docMk/>
          <pc:sldMk cId="3406435413" sldId="514"/>
        </pc:sldMkLst>
      </pc:sldChg>
      <pc:sldChg chg="add">
        <pc:chgData name="Jon Bird" userId="972cd707-37b4-43d1-9129-42033b26a2c3" providerId="ADAL" clId="{3B6DB23E-7C17-4FD5-A4BD-0D2725D01D67}" dt="2023-01-20T10:36:55.799" v="83"/>
        <pc:sldMkLst>
          <pc:docMk/>
          <pc:sldMk cId="3853746319" sldId="51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8100" y="0"/>
            <a:ext cx="2944813" cy="496888"/>
          </a:xfrm>
          <a:prstGeom prst="rect">
            <a:avLst/>
          </a:prstGeom>
        </p:spPr>
        <p:txBody>
          <a:bodyPr vert="horz" lIns="91440" tIns="45720" rIns="91440" bIns="45720" rtlCol="0"/>
          <a:lstStyle>
            <a:lvl1pPr algn="r">
              <a:defRPr sz="1200"/>
            </a:lvl1pPr>
          </a:lstStyle>
          <a:p>
            <a:fld id="{586C0F5F-9B5C-467F-9AAD-988FE06C3E70}" type="datetimeFigureOut">
              <a:rPr lang="en-GB" smtClean="0"/>
              <a:t>14/01/2025</a:t>
            </a:fld>
            <a:endParaRPr lang="en-GB"/>
          </a:p>
        </p:txBody>
      </p:sp>
      <p:sp>
        <p:nvSpPr>
          <p:cNvPr id="4" name="Slide Image Placeholder 3"/>
          <p:cNvSpPr>
            <a:spLocks noGrp="1" noRot="1" noChangeAspect="1"/>
          </p:cNvSpPr>
          <p:nvPr>
            <p:ph type="sldImg" idx="2"/>
          </p:nvPr>
        </p:nvSpPr>
        <p:spPr>
          <a:xfrm>
            <a:off x="425450" y="1238250"/>
            <a:ext cx="5943600" cy="33432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67263"/>
            <a:ext cx="5435600" cy="390048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09113"/>
            <a:ext cx="2944813" cy="4968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8100" y="9409113"/>
            <a:ext cx="2944813" cy="496887"/>
          </a:xfrm>
          <a:prstGeom prst="rect">
            <a:avLst/>
          </a:prstGeom>
        </p:spPr>
        <p:txBody>
          <a:bodyPr vert="horz" lIns="91440" tIns="45720" rIns="91440" bIns="45720" rtlCol="0" anchor="b"/>
          <a:lstStyle>
            <a:lvl1pPr algn="r">
              <a:defRPr sz="1200"/>
            </a:lvl1pPr>
          </a:lstStyle>
          <a:p>
            <a:fld id="{80568575-78D5-4409-B069-C08F0145EF51}" type="slidenum">
              <a:rPr lang="en-GB" smtClean="0"/>
              <a:t>‹#›</a:t>
            </a:fld>
            <a:endParaRPr lang="en-GB"/>
          </a:p>
        </p:txBody>
      </p:sp>
    </p:spTree>
    <p:extLst>
      <p:ext uri="{BB962C8B-B14F-4D97-AF65-F5344CB8AC3E}">
        <p14:creationId xmlns:p14="http://schemas.microsoft.com/office/powerpoint/2010/main" val="151240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7ED229E-CCA7-4497-8DD6-0B1A8DDCBA07}" type="slidenum">
              <a:rPr lang="en-GB" smtClean="0"/>
              <a:t>7</a:t>
            </a:fld>
            <a:endParaRPr lang="en-GB"/>
          </a:p>
        </p:txBody>
      </p:sp>
    </p:spTree>
    <p:extLst>
      <p:ext uri="{BB962C8B-B14F-4D97-AF65-F5344CB8AC3E}">
        <p14:creationId xmlns:p14="http://schemas.microsoft.com/office/powerpoint/2010/main" val="540115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2010, added a 6</a:t>
            </a:r>
            <a:r>
              <a:rPr lang="en-GB" sz="1200" baseline="30000" dirty="0"/>
              <a:t>th</a:t>
            </a:r>
            <a:r>
              <a:rPr lang="en-GB" sz="1200" dirty="0"/>
              <a:t> dimension ( Brevis and Vrba 2014)</a:t>
            </a:r>
            <a:endParaRPr lang="en-GB" dirty="0"/>
          </a:p>
          <a:p>
            <a:endParaRPr lang="en-GB" dirty="0"/>
          </a:p>
        </p:txBody>
      </p:sp>
      <p:sp>
        <p:nvSpPr>
          <p:cNvPr id="4" name="Slide Number Placeholder 3"/>
          <p:cNvSpPr>
            <a:spLocks noGrp="1"/>
          </p:cNvSpPr>
          <p:nvPr>
            <p:ph type="sldNum" sz="quarter" idx="5"/>
          </p:nvPr>
        </p:nvSpPr>
        <p:spPr/>
        <p:txBody>
          <a:bodyPr/>
          <a:lstStyle/>
          <a:p>
            <a:fld id="{F7ED229E-CCA7-4497-8DD6-0B1A8DDCBA07}" type="slidenum">
              <a:rPr lang="en-GB" smtClean="0"/>
              <a:t>10</a:t>
            </a:fld>
            <a:endParaRPr lang="en-GB"/>
          </a:p>
        </p:txBody>
      </p:sp>
    </p:spTree>
    <p:extLst>
      <p:ext uri="{BB962C8B-B14F-4D97-AF65-F5344CB8AC3E}">
        <p14:creationId xmlns:p14="http://schemas.microsoft.com/office/powerpoint/2010/main" val="21608943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A9A72284-5A93-C84B-B495-6FB01BB097C8}"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0C0B4-92AC-8D49-B99D-89C76F131BAF}" type="slidenum">
              <a:rPr lang="en-US" smtClean="0"/>
              <a:t>‹#›</a:t>
            </a:fld>
            <a:endParaRPr lang="en-US"/>
          </a:p>
        </p:txBody>
      </p:sp>
      <p:pic>
        <p:nvPicPr>
          <p:cNvPr id="7" name="Picture 6" descr="CU0106 CUSC Staff Induction - Presentation_3.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33576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9A72284-5A93-C84B-B495-6FB01BB097C8}"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520271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9A72284-5A93-C84B-B495-6FB01BB097C8}"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1041602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A9A72284-5A93-C84B-B495-6FB01BB097C8}" type="datetimeFigureOut">
              <a:rPr lang="en-US" smtClean="0"/>
              <a:t>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279271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A9A72284-5A93-C84B-B495-6FB01BB097C8}" type="datetimeFigureOut">
              <a:rPr lang="en-US" smtClean="0"/>
              <a:t>1/14/25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2364203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A9A72284-5A93-C84B-B495-6FB01BB097C8}" type="datetimeFigureOut">
              <a:rPr lang="en-US" smtClean="0"/>
              <a:t>1/14/25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2801353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A72284-5A93-C84B-B495-6FB01BB097C8}" type="datetimeFigureOut">
              <a:rPr lang="en-US" smtClean="0"/>
              <a:t>1/14/25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2588250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A72284-5A93-C84B-B495-6FB01BB097C8}" type="datetimeFigureOut">
              <a:rPr lang="en-US" smtClean="0"/>
              <a:t>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2725657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A72284-5A93-C84B-B495-6FB01BB097C8}" type="datetimeFigureOut">
              <a:rPr lang="en-US" smtClean="0"/>
              <a:t>1/14/25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3626838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9A72284-5A93-C84B-B495-6FB01BB097C8}"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3273826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9A72284-5A93-C84B-B495-6FB01BB097C8}" type="datetimeFigureOut">
              <a:rPr lang="en-US" smtClean="0"/>
              <a:t>1/14/25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90C0B4-92AC-8D49-B99D-89C76F131BAF}" type="slidenum">
              <a:rPr lang="en-US" smtClean="0"/>
              <a:t>‹#›</a:t>
            </a:fld>
            <a:endParaRPr lang="en-US"/>
          </a:p>
        </p:txBody>
      </p:sp>
    </p:spTree>
    <p:extLst>
      <p:ext uri="{BB962C8B-B14F-4D97-AF65-F5344CB8AC3E}">
        <p14:creationId xmlns:p14="http://schemas.microsoft.com/office/powerpoint/2010/main" val="12397095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t="8540" b="15848"/>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01688" y="757238"/>
            <a:ext cx="4972050"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4927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72284-5A93-C84B-B495-6FB01BB097C8}" type="datetimeFigureOut">
              <a:rPr lang="en-US" smtClean="0"/>
              <a:t>1/14/25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90C0B4-92AC-8D49-B99D-89C76F131BAF}" type="slidenum">
              <a:rPr lang="en-US" smtClean="0"/>
              <a:t>‹#›</a:t>
            </a:fld>
            <a:endParaRPr lang="en-US"/>
          </a:p>
        </p:txBody>
      </p:sp>
      <p:pic>
        <p:nvPicPr>
          <p:cNvPr id="7" name="Picture 6" descr="CU0106 CUSC Staff Induction - Presentation_32.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2096613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73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6.xml"/><Relationship Id="rId1" Type="http://schemas.openxmlformats.org/officeDocument/2006/relationships/video" Target="https://www.youtube.com/embed/TX0fUAhBAfc?feature=oembe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hyperlink" Target="https://geerthofstede.co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6.xml"/><Relationship Id="rId1" Type="http://schemas.openxmlformats.org/officeDocument/2006/relationships/video" Target="https://www.youtube.com/embed/n_Cn8eFo7u8?feature=oembe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zappos.com/e/zappos-one?pf_rd_r=BB86E84CD29211EF8C61&amp;pf_rd_p=82302d09-00d3-4468-a91b-e35dde7363b4" TargetMode="Externa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video" Target="https://www.youtube.com/embed/xuGh-jzupzc?feature=oembe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R-m8grawp1k" TargetMode="External"/><Relationship Id="rId2" Type="http://schemas.openxmlformats.org/officeDocument/2006/relationships/hyperlink" Target="http://www.onlinetalentmanager.com/products/quinnmode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898DC1-5A97-4EA2-862C-774085F89BCA}"/>
              </a:ext>
            </a:extLst>
          </p:cNvPr>
          <p:cNvSpPr txBox="1"/>
          <p:nvPr/>
        </p:nvSpPr>
        <p:spPr>
          <a:xfrm>
            <a:off x="1293512" y="3429000"/>
            <a:ext cx="9453966" cy="2862322"/>
          </a:xfrm>
          <a:prstGeom prst="rect">
            <a:avLst/>
          </a:prstGeom>
          <a:noFill/>
        </p:spPr>
        <p:txBody>
          <a:bodyPr wrap="square" rtlCol="0">
            <a:spAutoFit/>
          </a:bodyPr>
          <a:lstStyle/>
          <a:p>
            <a:pPr algn="ctr"/>
            <a:r>
              <a:rPr lang="en-GB" sz="6000" b="1" dirty="0">
                <a:cs typeface="Calibri Light" panose="020F0302020204030204" pitchFamily="34" charset="0"/>
              </a:rPr>
              <a:t>Welcome to </a:t>
            </a:r>
          </a:p>
          <a:p>
            <a:pPr algn="ctr"/>
            <a:r>
              <a:rPr lang="en-GB" sz="6000" b="1" dirty="0">
                <a:solidFill>
                  <a:schemeClr val="bg1"/>
                </a:solidFill>
                <a:cs typeface="Calibri Light" panose="020F0302020204030204" pitchFamily="34" charset="0"/>
              </a:rPr>
              <a:t>Organisations: People, Culture; Size &amp; Structure</a:t>
            </a:r>
          </a:p>
        </p:txBody>
      </p:sp>
    </p:spTree>
    <p:extLst>
      <p:ext uri="{BB962C8B-B14F-4D97-AF65-F5344CB8AC3E}">
        <p14:creationId xmlns:p14="http://schemas.microsoft.com/office/powerpoint/2010/main" val="3678351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Objective</a:t>
            </a:r>
          </a:p>
        </p:txBody>
      </p:sp>
      <p:sp>
        <p:nvSpPr>
          <p:cNvPr id="3" name="TextBox 2"/>
          <p:cNvSpPr txBox="1"/>
          <p:nvPr/>
        </p:nvSpPr>
        <p:spPr>
          <a:xfrm>
            <a:off x="1018903" y="1685110"/>
            <a:ext cx="10737669" cy="4431983"/>
          </a:xfrm>
          <a:prstGeom prst="rect">
            <a:avLst/>
          </a:prstGeom>
          <a:noFill/>
        </p:spPr>
        <p:txBody>
          <a:bodyPr wrap="square" rtlCol="0">
            <a:spAutoFit/>
          </a:bodyPr>
          <a:lstStyle/>
          <a:p>
            <a:pPr algn="just"/>
            <a:r>
              <a:rPr lang="en-US" sz="2400" dirty="0"/>
              <a:t>By the end of the lesson you will be able to:</a:t>
            </a:r>
          </a:p>
          <a:p>
            <a:pPr algn="just"/>
            <a:endParaRPr lang="en-US" sz="2400" dirty="0"/>
          </a:p>
          <a:p>
            <a:pPr algn="just"/>
            <a:r>
              <a:rPr lang="en-US" sz="2400" dirty="0">
                <a:solidFill>
                  <a:srgbClr val="FF0000"/>
                </a:solidFill>
              </a:rPr>
              <a:t>Describe </a:t>
            </a:r>
            <a:r>
              <a:rPr lang="en-US" sz="2400" dirty="0"/>
              <a:t>factors that affect business activity in an organization</a:t>
            </a:r>
          </a:p>
          <a:p>
            <a:pPr algn="just"/>
            <a:endParaRPr lang="en-US" sz="2400" dirty="0"/>
          </a:p>
          <a:p>
            <a:pPr algn="just"/>
            <a:r>
              <a:rPr lang="en-US" sz="2400" dirty="0">
                <a:solidFill>
                  <a:srgbClr val="FF0000"/>
                </a:solidFill>
              </a:rPr>
              <a:t>Understand </a:t>
            </a:r>
            <a:r>
              <a:rPr lang="en-US" sz="2400" dirty="0"/>
              <a:t>difference between culture and corporate culture</a:t>
            </a:r>
          </a:p>
          <a:p>
            <a:pPr algn="just"/>
            <a:endParaRPr lang="en-US" sz="2400" dirty="0"/>
          </a:p>
          <a:p>
            <a:pPr algn="just"/>
            <a:r>
              <a:rPr lang="en-US" sz="2400" dirty="0">
                <a:solidFill>
                  <a:srgbClr val="FF0000"/>
                </a:solidFill>
              </a:rPr>
              <a:t>Discuss </a:t>
            </a:r>
            <a:r>
              <a:rPr lang="en-US" sz="2400" dirty="0"/>
              <a:t>the determination of culture and its importance to an organization</a:t>
            </a:r>
          </a:p>
          <a:p>
            <a:pPr algn="just"/>
            <a:endParaRPr lang="en-US" sz="2400" dirty="0"/>
          </a:p>
          <a:p>
            <a:pPr algn="just"/>
            <a:r>
              <a:rPr lang="en-US" sz="2400" dirty="0">
                <a:solidFill>
                  <a:srgbClr val="FF0000"/>
                </a:solidFill>
              </a:rPr>
              <a:t>Describe </a:t>
            </a:r>
            <a:r>
              <a:rPr lang="en-US" sz="2400" dirty="0"/>
              <a:t>the dimension of organizational culture</a:t>
            </a:r>
          </a:p>
          <a:p>
            <a:pPr algn="just"/>
            <a:endParaRPr lang="en-US" sz="2400" dirty="0"/>
          </a:p>
          <a:p>
            <a:pPr algn="just"/>
            <a:endParaRPr lang="en-US" sz="2400" dirty="0"/>
          </a:p>
          <a:p>
            <a:endParaRPr lang="en-GB" dirty="0"/>
          </a:p>
        </p:txBody>
      </p:sp>
    </p:spTree>
    <p:extLst>
      <p:ext uri="{BB962C8B-B14F-4D97-AF65-F5344CB8AC3E}">
        <p14:creationId xmlns:p14="http://schemas.microsoft.com/office/powerpoint/2010/main" val="1815125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solidFill>
                  <a:srgbClr val="FFC000"/>
                </a:solidFill>
              </a:rPr>
              <a:t>Activity – 5 minutes</a:t>
            </a:r>
          </a:p>
        </p:txBody>
      </p:sp>
      <p:sp>
        <p:nvSpPr>
          <p:cNvPr id="3" name="TextBox 2"/>
          <p:cNvSpPr txBox="1"/>
          <p:nvPr/>
        </p:nvSpPr>
        <p:spPr>
          <a:xfrm>
            <a:off x="609600" y="2677885"/>
            <a:ext cx="10975942" cy="461665"/>
          </a:xfrm>
          <a:prstGeom prst="rect">
            <a:avLst/>
          </a:prstGeom>
          <a:noFill/>
        </p:spPr>
        <p:txBody>
          <a:bodyPr wrap="square" rtlCol="0">
            <a:spAutoFit/>
          </a:bodyPr>
          <a:lstStyle/>
          <a:p>
            <a:pPr algn="ctr"/>
            <a:r>
              <a:rPr lang="en-GB" sz="2400" dirty="0"/>
              <a:t>Using the Post It Note; describe the qualities you want for a friend.</a:t>
            </a:r>
          </a:p>
        </p:txBody>
      </p:sp>
    </p:spTree>
    <p:extLst>
      <p:ext uri="{BB962C8B-B14F-4D97-AF65-F5344CB8AC3E}">
        <p14:creationId xmlns:p14="http://schemas.microsoft.com/office/powerpoint/2010/main" val="3632718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076709" cy="1325563"/>
          </a:xfrm>
        </p:spPr>
        <p:txBody>
          <a:bodyPr/>
          <a:lstStyle/>
          <a:p>
            <a:r>
              <a:rPr lang="en-GB" b="1" dirty="0">
                <a:solidFill>
                  <a:schemeClr val="accent4"/>
                </a:solidFill>
                <a:latin typeface="+mn-lt"/>
              </a:rPr>
              <a:t>Business Organisations : Internal Environment</a:t>
            </a:r>
          </a:p>
        </p:txBody>
      </p:sp>
      <p:sp>
        <p:nvSpPr>
          <p:cNvPr id="3" name="Content Placeholder 2"/>
          <p:cNvSpPr>
            <a:spLocks noGrp="1"/>
          </p:cNvSpPr>
          <p:nvPr>
            <p:ph idx="1"/>
          </p:nvPr>
        </p:nvSpPr>
        <p:spPr/>
        <p:txBody>
          <a:bodyPr/>
          <a:lstStyle/>
          <a:p>
            <a:r>
              <a:rPr lang="en-GB" dirty="0"/>
              <a:t>Organisations structure</a:t>
            </a:r>
          </a:p>
          <a:p>
            <a:r>
              <a:rPr lang="en-GB" dirty="0"/>
              <a:t>Functions </a:t>
            </a:r>
          </a:p>
          <a:p>
            <a:r>
              <a:rPr lang="en-GB" dirty="0"/>
              <a:t>Organisational objectives</a:t>
            </a:r>
          </a:p>
          <a:p>
            <a:r>
              <a:rPr lang="en-GB" dirty="0"/>
              <a:t>Manage the different influences </a:t>
            </a:r>
          </a:p>
          <a:p>
            <a:r>
              <a:rPr lang="en-GB" dirty="0"/>
              <a:t>Adapt to new external influences </a:t>
            </a:r>
          </a:p>
          <a:p>
            <a:r>
              <a:rPr lang="en-GB" dirty="0"/>
              <a:t>Manager – people, technology, structures and environments </a:t>
            </a:r>
          </a:p>
          <a:p>
            <a:endParaRPr lang="en-GB" dirty="0"/>
          </a:p>
        </p:txBody>
      </p:sp>
    </p:spTree>
    <p:extLst>
      <p:ext uri="{BB962C8B-B14F-4D97-AF65-F5344CB8AC3E}">
        <p14:creationId xmlns:p14="http://schemas.microsoft.com/office/powerpoint/2010/main" val="1224972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accent4"/>
                </a:solidFill>
                <a:latin typeface="+mn-lt"/>
              </a:rPr>
              <a:t>The Concept of…’Organisation’</a:t>
            </a:r>
          </a:p>
        </p:txBody>
      </p:sp>
      <p:sp>
        <p:nvSpPr>
          <p:cNvPr id="3" name="Content Placeholder 2"/>
          <p:cNvSpPr>
            <a:spLocks noGrp="1"/>
          </p:cNvSpPr>
          <p:nvPr>
            <p:ph idx="1"/>
          </p:nvPr>
        </p:nvSpPr>
        <p:spPr/>
        <p:txBody>
          <a:bodyPr/>
          <a:lstStyle/>
          <a:p>
            <a:pPr marL="0" indent="0">
              <a:buNone/>
            </a:pPr>
            <a:r>
              <a:rPr lang="en-GB" dirty="0"/>
              <a:t>“Two or more people who work together in a structured way to achieve a specific goal or set of goals”.</a:t>
            </a:r>
          </a:p>
          <a:p>
            <a:pPr marL="3657600" lvl="8" indent="0" algn="r">
              <a:buNone/>
            </a:pPr>
            <a:r>
              <a:rPr lang="en-GB" dirty="0"/>
              <a:t>Stoner and Freeman (1992:4)</a:t>
            </a:r>
          </a:p>
          <a:p>
            <a:pPr marL="3657600" lvl="8" indent="0" algn="r">
              <a:buNone/>
            </a:pPr>
            <a:endParaRPr lang="en-GB" dirty="0"/>
          </a:p>
          <a:p>
            <a:pPr marL="0" indent="0">
              <a:buNone/>
            </a:pPr>
            <a:r>
              <a:rPr lang="en-GB" dirty="0"/>
              <a:t>Can be in:</a:t>
            </a:r>
          </a:p>
          <a:p>
            <a:r>
              <a:rPr lang="en-GB" dirty="0"/>
              <a:t>Private sector </a:t>
            </a:r>
          </a:p>
          <a:p>
            <a:r>
              <a:rPr lang="en-GB" dirty="0"/>
              <a:t>Public sector</a:t>
            </a:r>
          </a:p>
          <a:p>
            <a:r>
              <a:rPr lang="en-GB" dirty="0"/>
              <a:t>Voluntary (or third) sector</a:t>
            </a:r>
          </a:p>
          <a:p>
            <a:endParaRPr lang="en-GB" dirty="0"/>
          </a:p>
        </p:txBody>
      </p:sp>
    </p:spTree>
    <p:extLst>
      <p:ext uri="{BB962C8B-B14F-4D97-AF65-F5344CB8AC3E}">
        <p14:creationId xmlns:p14="http://schemas.microsoft.com/office/powerpoint/2010/main" val="3623209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accent4"/>
                </a:solidFill>
                <a:latin typeface="+mn-lt"/>
              </a:rPr>
              <a:t>What are Organisations?</a:t>
            </a:r>
          </a:p>
        </p:txBody>
      </p:sp>
      <p:sp>
        <p:nvSpPr>
          <p:cNvPr id="3" name="Content Placeholder 2"/>
          <p:cNvSpPr>
            <a:spLocks noGrp="1"/>
          </p:cNvSpPr>
          <p:nvPr>
            <p:ph idx="1"/>
          </p:nvPr>
        </p:nvSpPr>
        <p:spPr/>
        <p:txBody>
          <a:bodyPr/>
          <a:lstStyle/>
          <a:p>
            <a:pPr marL="0" indent="0">
              <a:buNone/>
            </a:pPr>
            <a:r>
              <a:rPr lang="en-GB" dirty="0"/>
              <a:t>“Organizations are essentially collections of parts with endless points of discontinuity. Good designs build organizational capabilities, for instance to manage innovation, which equip organizations to compete successfully. Capabilities are the product of a combination of knowledge, routines and behaviour that are enabled by well designed work processes, structures and lateral processes, management practices and systems and rewards and people practices.”  </a:t>
            </a:r>
          </a:p>
          <a:p>
            <a:pPr marL="0" indent="0" algn="r">
              <a:buNone/>
            </a:pPr>
            <a:r>
              <a:rPr lang="en-GB" dirty="0"/>
              <a:t>(Cheung-Judge &amp; </a:t>
            </a:r>
            <a:r>
              <a:rPr lang="en-GB" dirty="0" err="1"/>
              <a:t>Holbeche</a:t>
            </a:r>
            <a:r>
              <a:rPr lang="en-GB" dirty="0"/>
              <a:t>, 2011, p.212)</a:t>
            </a:r>
          </a:p>
          <a:p>
            <a:endParaRPr lang="en-GB" dirty="0"/>
          </a:p>
        </p:txBody>
      </p:sp>
    </p:spTree>
    <p:extLst>
      <p:ext uri="{BB962C8B-B14F-4D97-AF65-F5344CB8AC3E}">
        <p14:creationId xmlns:p14="http://schemas.microsoft.com/office/powerpoint/2010/main" val="2687544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Hofstede’s cultural model</a:t>
            </a:r>
          </a:p>
        </p:txBody>
      </p:sp>
      <p:sp>
        <p:nvSpPr>
          <p:cNvPr id="7" name="TextBox 6">
            <a:extLst>
              <a:ext uri="{FF2B5EF4-FFF2-40B4-BE49-F238E27FC236}">
                <a16:creationId xmlns:a16="http://schemas.microsoft.com/office/drawing/2014/main" id="{9035CF85-1DE2-4C90-8347-3BD8533B732C}"/>
              </a:ext>
            </a:extLst>
          </p:cNvPr>
          <p:cNvSpPr txBox="1"/>
          <p:nvPr/>
        </p:nvSpPr>
        <p:spPr>
          <a:xfrm>
            <a:off x="1994262" y="2253568"/>
            <a:ext cx="8203475" cy="1569660"/>
          </a:xfrm>
          <a:prstGeom prst="rect">
            <a:avLst/>
          </a:prstGeom>
          <a:noFill/>
        </p:spPr>
        <p:txBody>
          <a:bodyPr wrap="square" rtlCol="0">
            <a:spAutoFit/>
          </a:bodyPr>
          <a:lstStyle/>
          <a:p>
            <a:pPr algn="just"/>
            <a:r>
              <a:rPr lang="en-GB" sz="3200" dirty="0"/>
              <a:t>“The way in which members of an organisation relate to each other, their work and the outside world in comparison to other organisations”</a:t>
            </a:r>
          </a:p>
        </p:txBody>
      </p:sp>
      <p:sp>
        <p:nvSpPr>
          <p:cNvPr id="8" name="TextBox 7">
            <a:extLst>
              <a:ext uri="{FF2B5EF4-FFF2-40B4-BE49-F238E27FC236}">
                <a16:creationId xmlns:a16="http://schemas.microsoft.com/office/drawing/2014/main" id="{558EF5E6-60B3-4273-B94A-7E490DD34F49}"/>
              </a:ext>
            </a:extLst>
          </p:cNvPr>
          <p:cNvSpPr txBox="1"/>
          <p:nvPr/>
        </p:nvSpPr>
        <p:spPr>
          <a:xfrm>
            <a:off x="6210003" y="3823228"/>
            <a:ext cx="3265714" cy="369332"/>
          </a:xfrm>
          <a:prstGeom prst="rect">
            <a:avLst/>
          </a:prstGeom>
          <a:noFill/>
        </p:spPr>
        <p:txBody>
          <a:bodyPr wrap="square" rtlCol="0">
            <a:spAutoFit/>
          </a:bodyPr>
          <a:lstStyle/>
          <a:p>
            <a:pPr algn="ctr"/>
            <a:r>
              <a:rPr lang="en-GB" dirty="0"/>
              <a:t>Prof Geert Hofstede</a:t>
            </a:r>
          </a:p>
        </p:txBody>
      </p:sp>
    </p:spTree>
    <p:extLst>
      <p:ext uri="{BB962C8B-B14F-4D97-AF65-F5344CB8AC3E}">
        <p14:creationId xmlns:p14="http://schemas.microsoft.com/office/powerpoint/2010/main" val="3219680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ultimedia online 3" descr="Hofstede Cultural Framework | International Business| From A Business Professor#Hofstede">
            <a:hlinkClick r:id="" action="ppaction://media"/>
            <a:extLst>
              <a:ext uri="{FF2B5EF4-FFF2-40B4-BE49-F238E27FC236}">
                <a16:creationId xmlns:a16="http://schemas.microsoft.com/office/drawing/2014/main" id="{F71B2331-A398-4043-0454-25768A5579B8}"/>
              </a:ext>
            </a:extLst>
          </p:cNvPr>
          <p:cNvPicPr>
            <a:picLocks noRot="1" noChangeAspect="1"/>
          </p:cNvPicPr>
          <p:nvPr>
            <a:videoFile r:link="rId1"/>
          </p:nvPr>
        </p:nvPicPr>
        <p:blipFill>
          <a:blip r:embed="rId3"/>
          <a:stretch>
            <a:fillRect/>
          </a:stretch>
        </p:blipFill>
        <p:spPr>
          <a:xfrm>
            <a:off x="703384" y="127195"/>
            <a:ext cx="10578905" cy="5977081"/>
          </a:xfrm>
          <a:prstGeom prst="rect">
            <a:avLst/>
          </a:prstGeom>
        </p:spPr>
      </p:pic>
    </p:spTree>
    <p:extLst>
      <p:ext uri="{BB962C8B-B14F-4D97-AF65-F5344CB8AC3E}">
        <p14:creationId xmlns:p14="http://schemas.microsoft.com/office/powerpoint/2010/main" val="2322587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Hofstede’s Basic of dimensions of culture</a:t>
            </a:r>
          </a:p>
        </p:txBody>
      </p:sp>
      <p:sp>
        <p:nvSpPr>
          <p:cNvPr id="3" name="Rectangle 2"/>
          <p:cNvSpPr/>
          <p:nvPr/>
        </p:nvSpPr>
        <p:spPr>
          <a:xfrm>
            <a:off x="849086" y="1417639"/>
            <a:ext cx="8294914" cy="4801314"/>
          </a:xfrm>
          <a:prstGeom prst="rect">
            <a:avLst/>
          </a:prstGeom>
        </p:spPr>
        <p:txBody>
          <a:bodyPr wrap="square">
            <a:spAutoFit/>
          </a:bodyPr>
          <a:lstStyle/>
          <a:p>
            <a:r>
              <a:rPr lang="en-GB" b="1" dirty="0"/>
              <a:t>Individualism—Collectivism</a:t>
            </a:r>
            <a:r>
              <a:rPr lang="en-GB" dirty="0"/>
              <a:t>: The degree to which the society is built around individual rights and duties versus the group being the basic unit of society to which individuals should subordinate themselves </a:t>
            </a:r>
          </a:p>
          <a:p>
            <a:endParaRPr lang="en-GB" dirty="0"/>
          </a:p>
          <a:p>
            <a:r>
              <a:rPr lang="en-GB" b="1" dirty="0"/>
              <a:t>Power Distance</a:t>
            </a:r>
            <a:r>
              <a:rPr lang="en-GB" dirty="0"/>
              <a:t>: The social and psychological status and authority distance between the highest and lowest powered people in the society </a:t>
            </a:r>
          </a:p>
          <a:p>
            <a:endParaRPr lang="en-GB" dirty="0"/>
          </a:p>
          <a:p>
            <a:r>
              <a:rPr lang="en-GB" b="1" dirty="0"/>
              <a:t>Masculinity—Femininity Distance</a:t>
            </a:r>
            <a:r>
              <a:rPr lang="en-GB" dirty="0"/>
              <a:t>: The degree to which gender roles are differentiated and linked to work versus home and family </a:t>
            </a:r>
          </a:p>
          <a:p>
            <a:endParaRPr lang="en-GB" dirty="0"/>
          </a:p>
          <a:p>
            <a:r>
              <a:rPr lang="en-GB" b="1" dirty="0"/>
              <a:t>Tolerance for Ambiguity and Uncertainty</a:t>
            </a:r>
            <a:r>
              <a:rPr lang="en-GB" dirty="0"/>
              <a:t>: The degree to which members of the society feel comfortable in uncertain and ambiguous circumstances; the need for clear structures, processes, and rules </a:t>
            </a:r>
          </a:p>
          <a:p>
            <a:endParaRPr lang="en-GB" dirty="0"/>
          </a:p>
          <a:p>
            <a:r>
              <a:rPr lang="en-GB" b="1" dirty="0"/>
              <a:t>Short-Run vs. Long-Run Time Orientation</a:t>
            </a:r>
            <a:r>
              <a:rPr lang="en-GB" dirty="0"/>
              <a:t>: The degree to which members of society plan for and fantasize about the distant future versus being concerned only about the near future</a:t>
            </a:r>
          </a:p>
        </p:txBody>
      </p:sp>
      <p:sp>
        <p:nvSpPr>
          <p:cNvPr id="4" name="TextBox 3"/>
          <p:cNvSpPr txBox="1"/>
          <p:nvPr/>
        </p:nvSpPr>
        <p:spPr>
          <a:xfrm>
            <a:off x="9470571" y="5251269"/>
            <a:ext cx="2390503" cy="646331"/>
          </a:xfrm>
          <a:prstGeom prst="rect">
            <a:avLst/>
          </a:prstGeom>
          <a:noFill/>
        </p:spPr>
        <p:txBody>
          <a:bodyPr wrap="square" rtlCol="0">
            <a:spAutoFit/>
          </a:bodyPr>
          <a:lstStyle/>
          <a:p>
            <a:r>
              <a:rPr lang="en-GB" dirty="0"/>
              <a:t>Schein and Schein, 2017:  </a:t>
            </a:r>
          </a:p>
        </p:txBody>
      </p:sp>
    </p:spTree>
    <p:extLst>
      <p:ext uri="{BB962C8B-B14F-4D97-AF65-F5344CB8AC3E}">
        <p14:creationId xmlns:p14="http://schemas.microsoft.com/office/powerpoint/2010/main" val="3406435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mensions of Culture – CaseWORK"/>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7359" y="222069"/>
            <a:ext cx="5577841" cy="5746701"/>
          </a:xfrm>
          <a:prstGeom prst="rect">
            <a:avLst/>
          </a:prstGeom>
        </p:spPr>
      </p:pic>
      <p:sp>
        <p:nvSpPr>
          <p:cNvPr id="2" name="TextBox 1"/>
          <p:cNvSpPr txBox="1"/>
          <p:nvPr/>
        </p:nvSpPr>
        <p:spPr>
          <a:xfrm>
            <a:off x="7863840" y="3474719"/>
            <a:ext cx="3566160" cy="1200329"/>
          </a:xfrm>
          <a:prstGeom prst="rect">
            <a:avLst/>
          </a:prstGeom>
          <a:noFill/>
        </p:spPr>
        <p:txBody>
          <a:bodyPr wrap="square" rtlCol="0">
            <a:spAutoFit/>
          </a:bodyPr>
          <a:lstStyle/>
          <a:p>
            <a:r>
              <a:rPr lang="en-GB" dirty="0"/>
              <a:t>Hofstede (2010)</a:t>
            </a:r>
          </a:p>
          <a:p>
            <a:endParaRPr lang="en-GB" dirty="0"/>
          </a:p>
          <a:p>
            <a:r>
              <a:rPr lang="en-GB" dirty="0"/>
              <a:t>See more </a:t>
            </a:r>
            <a:r>
              <a:rPr lang="nl-NL" dirty="0">
                <a:hlinkClick r:id="rId4"/>
              </a:rPr>
              <a:t>Geert Hofstede and Gert Jan Hofstede on culture</a:t>
            </a:r>
            <a:endParaRPr lang="en-GB" dirty="0"/>
          </a:p>
        </p:txBody>
      </p:sp>
      <p:sp>
        <p:nvSpPr>
          <p:cNvPr id="5" name="Right Arrow 4"/>
          <p:cNvSpPr/>
          <p:nvPr/>
        </p:nvSpPr>
        <p:spPr>
          <a:xfrm rot="2319586">
            <a:off x="1384661" y="1201785"/>
            <a:ext cx="587829" cy="61395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TextBox 5"/>
          <p:cNvSpPr txBox="1"/>
          <p:nvPr/>
        </p:nvSpPr>
        <p:spPr>
          <a:xfrm>
            <a:off x="380455" y="491367"/>
            <a:ext cx="2233748" cy="646331"/>
          </a:xfrm>
          <a:prstGeom prst="rect">
            <a:avLst/>
          </a:prstGeom>
          <a:noFill/>
        </p:spPr>
        <p:txBody>
          <a:bodyPr wrap="square" rtlCol="0">
            <a:spAutoFit/>
          </a:bodyPr>
          <a:lstStyle/>
          <a:p>
            <a:r>
              <a:rPr lang="en-GB" dirty="0"/>
              <a:t>6</a:t>
            </a:r>
            <a:r>
              <a:rPr lang="en-GB" baseline="30000" dirty="0"/>
              <a:t>th</a:t>
            </a:r>
            <a:r>
              <a:rPr lang="en-GB" dirty="0"/>
              <a:t> dimension added in 2010</a:t>
            </a:r>
          </a:p>
        </p:txBody>
      </p:sp>
    </p:spTree>
    <p:extLst>
      <p:ext uri="{BB962C8B-B14F-4D97-AF65-F5344CB8AC3E}">
        <p14:creationId xmlns:p14="http://schemas.microsoft.com/office/powerpoint/2010/main" val="1615833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nline Media 2" title="What's it like to work at Google?">
            <a:hlinkClick r:id="" action="ppaction://media"/>
            <a:extLst>
              <a:ext uri="{FF2B5EF4-FFF2-40B4-BE49-F238E27FC236}">
                <a16:creationId xmlns:a16="http://schemas.microsoft.com/office/drawing/2014/main" id="{D3F81435-D086-3FF7-9B54-E1DFAB18C23E}"/>
              </a:ext>
            </a:extLst>
          </p:cNvPr>
          <p:cNvPicPr>
            <a:picLocks noRot="1" noChangeAspect="1"/>
          </p:cNvPicPr>
          <p:nvPr>
            <a:videoFile r:link="rId1"/>
          </p:nvPr>
        </p:nvPicPr>
        <p:blipFill>
          <a:blip r:embed="rId3"/>
          <a:stretch>
            <a:fillRect/>
          </a:stretch>
        </p:blipFill>
        <p:spPr>
          <a:xfrm>
            <a:off x="1158309" y="365125"/>
            <a:ext cx="9875382" cy="5579591"/>
          </a:xfrm>
          <a:prstGeom prst="rect">
            <a:avLst/>
          </a:prstGeom>
        </p:spPr>
      </p:pic>
    </p:spTree>
    <p:extLst>
      <p:ext uri="{BB962C8B-B14F-4D97-AF65-F5344CB8AC3E}">
        <p14:creationId xmlns:p14="http://schemas.microsoft.com/office/powerpoint/2010/main" val="3050570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accent4"/>
                </a:solidFill>
                <a:latin typeface="+mn-lt"/>
              </a:rPr>
              <a:t>The Problems with ‘Strong’ Cultures</a:t>
            </a:r>
          </a:p>
        </p:txBody>
      </p:sp>
      <p:sp>
        <p:nvSpPr>
          <p:cNvPr id="3" name="Content Placeholder 2"/>
          <p:cNvSpPr>
            <a:spLocks noGrp="1"/>
          </p:cNvSpPr>
          <p:nvPr>
            <p:ph idx="1"/>
          </p:nvPr>
        </p:nvSpPr>
        <p:spPr/>
        <p:txBody>
          <a:bodyPr>
            <a:normAutofit fontScale="92500" lnSpcReduction="10000"/>
          </a:bodyPr>
          <a:lstStyle/>
          <a:p>
            <a:r>
              <a:rPr lang="en-GB" altLang="en-US" dirty="0"/>
              <a:t>Makes merging with an organisation more difficult</a:t>
            </a:r>
          </a:p>
          <a:p>
            <a:r>
              <a:rPr lang="en-GB" altLang="en-US" dirty="0"/>
              <a:t>Attracts &amp; retains similar kinds of employees thereby limiting the diversity of thought</a:t>
            </a:r>
          </a:p>
          <a:p>
            <a:r>
              <a:rPr lang="en-GB" altLang="en-US" dirty="0"/>
              <a:t>Can be ‘too much of a good thing’ if it creates extreme behaviours among employees</a:t>
            </a:r>
          </a:p>
          <a:p>
            <a:r>
              <a:rPr lang="en-GB" altLang="en-US" dirty="0"/>
              <a:t>May impede success if it encourages conformist attitudes</a:t>
            </a:r>
          </a:p>
          <a:p>
            <a:r>
              <a:rPr lang="en-GB" altLang="en-US" dirty="0"/>
              <a:t>Thus possibility of ‘Groupthink’? (Janis, 1972)</a:t>
            </a:r>
          </a:p>
          <a:p>
            <a:r>
              <a:rPr lang="en-GB" altLang="en-US" dirty="0"/>
              <a:t>Slow to develop &amp; then difficult to change for reasons above</a:t>
            </a:r>
          </a:p>
          <a:p>
            <a:endParaRPr lang="en-GB" altLang="en-US" dirty="0"/>
          </a:p>
          <a:p>
            <a:r>
              <a:rPr lang="en-GB" altLang="en-US" sz="3600" dirty="0"/>
              <a:t>Strong does not necessarily mean ‘good</a:t>
            </a:r>
            <a:r>
              <a:rPr lang="en-GB" altLang="en-US" dirty="0"/>
              <a:t>’</a:t>
            </a:r>
          </a:p>
          <a:p>
            <a:endParaRPr lang="en-GB" dirty="0"/>
          </a:p>
        </p:txBody>
      </p:sp>
    </p:spTree>
    <p:extLst>
      <p:ext uri="{BB962C8B-B14F-4D97-AF65-F5344CB8AC3E}">
        <p14:creationId xmlns:p14="http://schemas.microsoft.com/office/powerpoint/2010/main" val="4071980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FFC000"/>
                </a:solidFill>
              </a:rPr>
              <a:t>Application: Zappos</a:t>
            </a:r>
          </a:p>
        </p:txBody>
      </p:sp>
      <p:sp>
        <p:nvSpPr>
          <p:cNvPr id="3" name="TextBox 2"/>
          <p:cNvSpPr txBox="1"/>
          <p:nvPr/>
        </p:nvSpPr>
        <p:spPr>
          <a:xfrm>
            <a:off x="862149" y="2076994"/>
            <a:ext cx="10515600" cy="3785652"/>
          </a:xfrm>
          <a:prstGeom prst="rect">
            <a:avLst/>
          </a:prstGeom>
          <a:noFill/>
        </p:spPr>
        <p:txBody>
          <a:bodyPr wrap="square" rtlCol="0">
            <a:spAutoFit/>
          </a:bodyPr>
          <a:lstStyle/>
          <a:p>
            <a:pPr algn="just"/>
            <a:r>
              <a:rPr lang="en-GB" sz="2400" dirty="0"/>
              <a:t>Enter Zappos website (www.zappos.com). Scroll downwards and click on “About”, then scroll down and click, “</a:t>
            </a:r>
            <a:r>
              <a:rPr lang="pl-PL" sz="2400" dirty="0">
                <a:hlinkClick r:id="rId2">
                  <a:extLst>
                    <a:ext uri="{A12FA001-AC4F-418D-AE19-62706E023703}">
                      <ahyp:hlinkClr xmlns:ahyp="http://schemas.microsoft.com/office/drawing/2018/hyperlinkcolor" val="tx"/>
                    </a:ext>
                  </a:extLst>
                </a:hlinkClick>
              </a:rPr>
              <a:t>Learn More About Zappos ONE Purpose</a:t>
            </a:r>
            <a:r>
              <a:rPr lang="en-GB" sz="2400" dirty="0"/>
              <a:t>,”</a:t>
            </a:r>
          </a:p>
          <a:p>
            <a:pPr algn="just"/>
            <a:endParaRPr lang="en-GB" sz="2400" dirty="0"/>
          </a:p>
          <a:p>
            <a:pPr algn="just"/>
            <a:r>
              <a:rPr lang="en-GB" sz="2400" dirty="0"/>
              <a:t>Questions:</a:t>
            </a:r>
          </a:p>
          <a:p>
            <a:pPr algn="just"/>
            <a:endParaRPr lang="en-GB" sz="2400" dirty="0"/>
          </a:p>
          <a:p>
            <a:pPr marL="342900" indent="-342900" algn="just">
              <a:buFont typeface="Arial" panose="020B0604020202020204" pitchFamily="34" charset="0"/>
              <a:buChar char="•"/>
            </a:pPr>
            <a:r>
              <a:rPr lang="en-GB" sz="2400" dirty="0"/>
              <a:t>What are the main elements of Zappos culture?</a:t>
            </a:r>
          </a:p>
          <a:p>
            <a:pPr marL="342900" indent="-342900" algn="just">
              <a:buFont typeface="Arial" panose="020B0604020202020204" pitchFamily="34" charset="0"/>
              <a:buChar char="•"/>
            </a:pPr>
            <a:endParaRPr lang="en-GB" sz="2400" dirty="0"/>
          </a:p>
          <a:p>
            <a:pPr marL="342900" indent="-342900" algn="just">
              <a:buFont typeface="Arial" panose="020B0604020202020204" pitchFamily="34" charset="0"/>
              <a:buChar char="•"/>
            </a:pPr>
            <a:r>
              <a:rPr lang="en-GB" sz="2400" dirty="0"/>
              <a:t>How does the Zappos company culture define their value?</a:t>
            </a:r>
          </a:p>
          <a:p>
            <a:pPr marL="342900" indent="-342900" algn="just">
              <a:buFont typeface="Arial" panose="020B0604020202020204" pitchFamily="34" charset="0"/>
              <a:buChar char="•"/>
            </a:pPr>
            <a:endParaRPr lang="en-GB" sz="2400" dirty="0"/>
          </a:p>
          <a:p>
            <a:pPr marL="342900" indent="-342900" algn="just">
              <a:buFont typeface="Arial" panose="020B0604020202020204" pitchFamily="34" charset="0"/>
              <a:buChar char="•"/>
            </a:pPr>
            <a:r>
              <a:rPr lang="en-GB" sz="2400" dirty="0"/>
              <a:t>How easy would it be to institute Zappos culture in other companies?</a:t>
            </a:r>
          </a:p>
        </p:txBody>
      </p:sp>
    </p:spTree>
    <p:extLst>
      <p:ext uri="{BB962C8B-B14F-4D97-AF65-F5344CB8AC3E}">
        <p14:creationId xmlns:p14="http://schemas.microsoft.com/office/powerpoint/2010/main" val="3779400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accent4"/>
                </a:solidFill>
                <a:latin typeface="+mn-lt"/>
              </a:rPr>
              <a:t>Culture Task</a:t>
            </a:r>
          </a:p>
        </p:txBody>
      </p:sp>
      <p:sp>
        <p:nvSpPr>
          <p:cNvPr id="3" name="Content Placeholder 2"/>
          <p:cNvSpPr>
            <a:spLocks noGrp="1"/>
          </p:cNvSpPr>
          <p:nvPr>
            <p:ph idx="1"/>
          </p:nvPr>
        </p:nvSpPr>
        <p:spPr/>
        <p:txBody>
          <a:bodyPr/>
          <a:lstStyle/>
          <a:p>
            <a:pPr marL="0" indent="0">
              <a:buNone/>
            </a:pPr>
            <a:r>
              <a:rPr lang="en-GB" b="1" dirty="0"/>
              <a:t>Think of an organisation you work in or have worked for</a:t>
            </a:r>
          </a:p>
          <a:p>
            <a:pPr marL="0" indent="0">
              <a:buNone/>
            </a:pPr>
            <a:endParaRPr lang="en-GB" dirty="0"/>
          </a:p>
          <a:p>
            <a:pPr marL="514350" indent="-514350">
              <a:buAutoNum type="arabicPeriod"/>
            </a:pPr>
            <a:r>
              <a:rPr lang="en-GB" dirty="0"/>
              <a:t>Tell me the pro’s and con’s for this individual company.</a:t>
            </a:r>
          </a:p>
          <a:p>
            <a:pPr marL="514350" indent="-514350">
              <a:buAutoNum type="arabicPeriod"/>
            </a:pPr>
            <a:endParaRPr lang="en-GB" dirty="0"/>
          </a:p>
          <a:p>
            <a:pPr marL="0" indent="0">
              <a:buNone/>
            </a:pPr>
            <a:endParaRPr lang="en-GB" dirty="0"/>
          </a:p>
          <a:p>
            <a:pPr marL="0" indent="0">
              <a:buNone/>
            </a:pPr>
            <a:r>
              <a:rPr lang="en-GB" b="1" dirty="0"/>
              <a:t>Think of an organisation you would like to work for:</a:t>
            </a:r>
          </a:p>
          <a:p>
            <a:pPr marL="0" indent="0">
              <a:buNone/>
            </a:pPr>
            <a:endParaRPr lang="en-GB" dirty="0"/>
          </a:p>
          <a:p>
            <a:pPr marL="0" indent="0">
              <a:buNone/>
            </a:pPr>
            <a:r>
              <a:rPr lang="en-GB" dirty="0"/>
              <a:t>1. Tell me the pro’s and con’s for this individual company.</a:t>
            </a:r>
          </a:p>
          <a:p>
            <a:endParaRPr lang="en-GB" dirty="0"/>
          </a:p>
          <a:p>
            <a:endParaRPr lang="en-GB" dirty="0"/>
          </a:p>
        </p:txBody>
      </p:sp>
    </p:spTree>
    <p:extLst>
      <p:ext uri="{BB962C8B-B14F-4D97-AF65-F5344CB8AC3E}">
        <p14:creationId xmlns:p14="http://schemas.microsoft.com/office/powerpoint/2010/main" val="2431964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Organisation Structure</a:t>
            </a:r>
          </a:p>
        </p:txBody>
      </p:sp>
      <p:sp>
        <p:nvSpPr>
          <p:cNvPr id="3" name="TextBox 2"/>
          <p:cNvSpPr txBox="1"/>
          <p:nvPr/>
        </p:nvSpPr>
        <p:spPr>
          <a:xfrm>
            <a:off x="1178567" y="1691959"/>
            <a:ext cx="2505159" cy="1200329"/>
          </a:xfrm>
          <a:prstGeom prst="rect">
            <a:avLst/>
          </a:prstGeom>
          <a:noFill/>
        </p:spPr>
        <p:txBody>
          <a:bodyPr wrap="square" rtlCol="0">
            <a:spAutoFit/>
          </a:bodyPr>
          <a:lstStyle/>
          <a:p>
            <a:pPr algn="just"/>
            <a:r>
              <a:rPr lang="en-GB" sz="2400" dirty="0"/>
              <a:t>Board of directors</a:t>
            </a:r>
          </a:p>
          <a:p>
            <a:pPr algn="just"/>
            <a:r>
              <a:rPr lang="en-GB" sz="2400" dirty="0"/>
              <a:t>Professionalism of management</a:t>
            </a:r>
          </a:p>
        </p:txBody>
      </p:sp>
      <p:sp>
        <p:nvSpPr>
          <p:cNvPr id="4" name="Right Brace 3"/>
          <p:cNvSpPr/>
          <p:nvPr/>
        </p:nvSpPr>
        <p:spPr>
          <a:xfrm>
            <a:off x="3775167" y="1763486"/>
            <a:ext cx="254724" cy="103051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5" name="TextBox 4"/>
          <p:cNvSpPr txBox="1"/>
          <p:nvPr/>
        </p:nvSpPr>
        <p:spPr>
          <a:xfrm>
            <a:off x="4467497" y="2050869"/>
            <a:ext cx="2194560" cy="646331"/>
          </a:xfrm>
          <a:prstGeom prst="rect">
            <a:avLst/>
          </a:prstGeom>
          <a:noFill/>
        </p:spPr>
        <p:txBody>
          <a:bodyPr wrap="square" rtlCol="0">
            <a:spAutoFit/>
          </a:bodyPr>
          <a:lstStyle/>
          <a:p>
            <a:r>
              <a:rPr lang="en-GB" dirty="0"/>
              <a:t>Influences business decision</a:t>
            </a:r>
          </a:p>
        </p:txBody>
      </p:sp>
      <p:sp>
        <p:nvSpPr>
          <p:cNvPr id="6" name="TextBox 5"/>
          <p:cNvSpPr txBox="1"/>
          <p:nvPr/>
        </p:nvSpPr>
        <p:spPr>
          <a:xfrm>
            <a:off x="783771" y="3944983"/>
            <a:ext cx="10189029" cy="830997"/>
          </a:xfrm>
          <a:prstGeom prst="rect">
            <a:avLst/>
          </a:prstGeom>
          <a:noFill/>
        </p:spPr>
        <p:txBody>
          <a:bodyPr wrap="square" rtlCol="0">
            <a:spAutoFit/>
          </a:bodyPr>
          <a:lstStyle/>
          <a:p>
            <a:r>
              <a:rPr lang="en-GB" sz="2400" dirty="0"/>
              <a:t>An efficient working of an organisation requires that the structure should be conducive for quick decision making</a:t>
            </a:r>
          </a:p>
        </p:txBody>
      </p:sp>
      <p:pic>
        <p:nvPicPr>
          <p:cNvPr id="8" name="Picture 7" descr="4 Keys to Optimizing Learning Organization Structur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6491" y="1378512"/>
            <a:ext cx="4955909" cy="2175644"/>
          </a:xfrm>
          <a:prstGeom prst="rect">
            <a:avLst/>
          </a:prstGeom>
        </p:spPr>
      </p:pic>
    </p:spTree>
    <p:extLst>
      <p:ext uri="{BB962C8B-B14F-4D97-AF65-F5344CB8AC3E}">
        <p14:creationId xmlns:p14="http://schemas.microsoft.com/office/powerpoint/2010/main" val="2978523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Multimedia online 10" descr="6 Most Common Types of Organizational Structures (Pros &amp; Cons) | From A Business Professor">
            <a:hlinkClick r:id="" action="ppaction://media"/>
            <a:extLst>
              <a:ext uri="{FF2B5EF4-FFF2-40B4-BE49-F238E27FC236}">
                <a16:creationId xmlns:a16="http://schemas.microsoft.com/office/drawing/2014/main" id="{A024C7E5-37EA-B544-0025-603C2C4464F1}"/>
              </a:ext>
            </a:extLst>
          </p:cNvPr>
          <p:cNvPicPr>
            <a:picLocks noRot="1" noChangeAspect="1"/>
          </p:cNvPicPr>
          <p:nvPr>
            <a:videoFile r:link="rId1"/>
          </p:nvPr>
        </p:nvPicPr>
        <p:blipFill>
          <a:blip r:embed="rId3"/>
          <a:stretch>
            <a:fillRect/>
          </a:stretch>
        </p:blipFill>
        <p:spPr>
          <a:xfrm>
            <a:off x="905021" y="196713"/>
            <a:ext cx="10381957" cy="5865806"/>
          </a:xfrm>
          <a:prstGeom prst="rect">
            <a:avLst/>
          </a:prstGeom>
        </p:spPr>
      </p:pic>
    </p:spTree>
    <p:extLst>
      <p:ext uri="{BB962C8B-B14F-4D97-AF65-F5344CB8AC3E}">
        <p14:creationId xmlns:p14="http://schemas.microsoft.com/office/powerpoint/2010/main" val="610178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accent4"/>
                </a:solidFill>
                <a:latin typeface="+mn-lt"/>
              </a:rPr>
              <a:t>So…What does this structure enable?</a:t>
            </a:r>
          </a:p>
        </p:txBody>
      </p:sp>
      <p:sp>
        <p:nvSpPr>
          <p:cNvPr id="3" name="Content Placeholder 2"/>
          <p:cNvSpPr>
            <a:spLocks noGrp="1"/>
          </p:cNvSpPr>
          <p:nvPr>
            <p:ph idx="1"/>
          </p:nvPr>
        </p:nvSpPr>
        <p:spPr/>
        <p:txBody>
          <a:bodyPr/>
          <a:lstStyle/>
          <a:p>
            <a:r>
              <a:rPr lang="en-GB" dirty="0"/>
              <a:t>Achieve efficiency in the utilisation of resources</a:t>
            </a:r>
          </a:p>
          <a:p>
            <a:r>
              <a:rPr lang="en-GB" dirty="0"/>
              <a:t>Monitor organisational performance</a:t>
            </a:r>
          </a:p>
          <a:p>
            <a:r>
              <a:rPr lang="en-GB" dirty="0"/>
              <a:t>Accountability of </a:t>
            </a:r>
            <a:r>
              <a:rPr lang="en-GB" dirty="0" err="1"/>
              <a:t>indicuals</a:t>
            </a:r>
            <a:endParaRPr lang="en-GB" dirty="0"/>
          </a:p>
          <a:p>
            <a:r>
              <a:rPr lang="en-GB" dirty="0"/>
              <a:t>Coordinate different parts of the organisation</a:t>
            </a:r>
          </a:p>
          <a:p>
            <a:r>
              <a:rPr lang="en-GB" dirty="0"/>
              <a:t>Efficient and effective communication</a:t>
            </a:r>
          </a:p>
          <a:p>
            <a:r>
              <a:rPr lang="en-GB" dirty="0"/>
              <a:t>Job satisfaction –progression opportunities </a:t>
            </a:r>
          </a:p>
          <a:p>
            <a:r>
              <a:rPr lang="en-GB" dirty="0"/>
              <a:t>Adapt to change (internal or external developments)</a:t>
            </a:r>
          </a:p>
          <a:p>
            <a:endParaRPr lang="en-GB" dirty="0"/>
          </a:p>
        </p:txBody>
      </p:sp>
    </p:spTree>
    <p:extLst>
      <p:ext uri="{BB962C8B-B14F-4D97-AF65-F5344CB8AC3E}">
        <p14:creationId xmlns:p14="http://schemas.microsoft.com/office/powerpoint/2010/main" val="1358903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chemeClr val="accent4"/>
                </a:solidFill>
                <a:latin typeface="+mn-lt"/>
              </a:rPr>
              <a:t>References</a:t>
            </a:r>
          </a:p>
        </p:txBody>
      </p:sp>
      <p:sp>
        <p:nvSpPr>
          <p:cNvPr id="3" name="Content Placeholder 2"/>
          <p:cNvSpPr>
            <a:spLocks noGrp="1"/>
          </p:cNvSpPr>
          <p:nvPr>
            <p:ph idx="1"/>
          </p:nvPr>
        </p:nvSpPr>
        <p:spPr/>
        <p:txBody>
          <a:bodyPr>
            <a:normAutofit fontScale="47500" lnSpcReduction="20000"/>
          </a:bodyPr>
          <a:lstStyle/>
          <a:p>
            <a:r>
              <a:rPr lang="en-GB" dirty="0"/>
              <a:t>Adams, A (2014). Law for Business Students (8</a:t>
            </a:r>
            <a:r>
              <a:rPr lang="en-GB" baseline="30000" dirty="0"/>
              <a:t>th </a:t>
            </a:r>
            <a:r>
              <a:rPr lang="en-GB" dirty="0"/>
              <a:t>ed.). </a:t>
            </a:r>
            <a:r>
              <a:rPr lang="en-GB" dirty="0" err="1"/>
              <a:t>Harlow:Pearson</a:t>
            </a:r>
            <a:endParaRPr lang="en-GB" dirty="0"/>
          </a:p>
          <a:p>
            <a:r>
              <a:rPr lang="en-GB" dirty="0"/>
              <a:t>BALOGUN, J., and HOPE HAILEY V., (2008) </a:t>
            </a:r>
            <a:r>
              <a:rPr lang="en-GB" i="1" dirty="0"/>
              <a:t>Exploring Strategic Change </a:t>
            </a:r>
            <a:r>
              <a:rPr lang="en-GB" dirty="0"/>
              <a:t> 3</a:t>
            </a:r>
            <a:r>
              <a:rPr lang="en-GB" baseline="30000" dirty="0"/>
              <a:t>rd</a:t>
            </a:r>
            <a:r>
              <a:rPr lang="en-GB" dirty="0"/>
              <a:t> Ed Essex: Pearson Education Ltd.</a:t>
            </a:r>
          </a:p>
          <a:p>
            <a:r>
              <a:rPr lang="en-GB" dirty="0" err="1"/>
              <a:t>Boddy</a:t>
            </a:r>
            <a:r>
              <a:rPr lang="en-GB" dirty="0"/>
              <a:t>, D. (2017). </a:t>
            </a:r>
            <a:r>
              <a:rPr lang="en-GB" i="1" dirty="0"/>
              <a:t>Management: An Introduction</a:t>
            </a:r>
            <a:r>
              <a:rPr lang="en-GB" dirty="0"/>
              <a:t> (7th ed.). Harlow: Pearson.</a:t>
            </a:r>
          </a:p>
          <a:p>
            <a:r>
              <a:rPr lang="en-GB" dirty="0"/>
              <a:t>BUCHANAN, D.A. and HUCZYNSKI, A.A. (2010) </a:t>
            </a:r>
            <a:r>
              <a:rPr lang="en-GB" i="1" dirty="0"/>
              <a:t>Organizational Behaviour </a:t>
            </a:r>
            <a:r>
              <a:rPr lang="en-GB" dirty="0"/>
              <a:t> 7</a:t>
            </a:r>
            <a:r>
              <a:rPr lang="en-GB" baseline="30000" dirty="0"/>
              <a:t>th</a:t>
            </a:r>
            <a:r>
              <a:rPr lang="en-GB" dirty="0"/>
              <a:t> ed. Essex: Pearson Education Ltd.</a:t>
            </a:r>
          </a:p>
          <a:p>
            <a:r>
              <a:rPr lang="en-GB" dirty="0"/>
              <a:t>CARNALL, C. (2007) </a:t>
            </a:r>
            <a:r>
              <a:rPr lang="en-GB" i="1" dirty="0"/>
              <a:t>Managing Change in Organizations </a:t>
            </a:r>
            <a:r>
              <a:rPr lang="en-GB" dirty="0"/>
              <a:t> 5</a:t>
            </a:r>
            <a:r>
              <a:rPr lang="en-GB" baseline="30000" dirty="0"/>
              <a:t>th</a:t>
            </a:r>
            <a:r>
              <a:rPr lang="en-GB" dirty="0"/>
              <a:t> Ed. Essex: Pearson Education Ltd</a:t>
            </a:r>
          </a:p>
          <a:p>
            <a:r>
              <a:rPr lang="en-GB" dirty="0" err="1"/>
              <a:t>Dignam</a:t>
            </a:r>
            <a:r>
              <a:rPr lang="en-GB" dirty="0"/>
              <a:t>, A &amp; Lowry, J. (2012). Company Law (8</a:t>
            </a:r>
            <a:r>
              <a:rPr lang="en-GB" baseline="30000" dirty="0"/>
              <a:t>th</a:t>
            </a:r>
            <a:r>
              <a:rPr lang="en-GB" dirty="0"/>
              <a:t> ed.) Oxford: Oxford University Press</a:t>
            </a:r>
          </a:p>
          <a:p>
            <a:r>
              <a:rPr lang="en-GB" dirty="0"/>
              <a:t>JOHNSON, G., WHITTINGTON, R., and SCHOLES, K., (2011) </a:t>
            </a:r>
            <a:r>
              <a:rPr lang="en-GB" i="1" dirty="0"/>
              <a:t>Exploring Strategy </a:t>
            </a:r>
            <a:r>
              <a:rPr lang="en-GB" dirty="0"/>
              <a:t>9</a:t>
            </a:r>
            <a:r>
              <a:rPr lang="en-GB" baseline="30000" dirty="0"/>
              <a:t>th</a:t>
            </a:r>
            <a:r>
              <a:rPr lang="en-GB" dirty="0"/>
              <a:t> Ed Essex: Pearson Education Ltd.</a:t>
            </a:r>
          </a:p>
          <a:p>
            <a:r>
              <a:rPr lang="en-GB" dirty="0">
                <a:solidFill>
                  <a:prstClr val="black"/>
                </a:solidFill>
                <a:latin typeface="Calibri" panose="020F0502020204030204" pitchFamily="34" charset="0"/>
                <a:ea typeface="Calibri" panose="020F0502020204030204" pitchFamily="34" charset="0"/>
                <a:cs typeface="Times New Roman" panose="02020603050405020304" pitchFamily="18" charset="0"/>
              </a:rPr>
              <a:t>Lemieux, Victoria (1998) ‘Applying </a:t>
            </a:r>
            <a:r>
              <a:rPr lang="en-GB" dirty="0" err="1">
                <a:solidFill>
                  <a:prstClr val="black"/>
                </a:solidFill>
                <a:latin typeface="Calibri" panose="020F0502020204030204" pitchFamily="34" charset="0"/>
                <a:ea typeface="Calibri" panose="020F0502020204030204" pitchFamily="34" charset="0"/>
                <a:cs typeface="Times New Roman" panose="02020603050405020304" pitchFamily="18" charset="0"/>
              </a:rPr>
              <a:t>Mintzberg's</a:t>
            </a:r>
            <a:r>
              <a:rPr lang="en-GB" dirty="0">
                <a:solidFill>
                  <a:prstClr val="black"/>
                </a:solidFill>
                <a:latin typeface="Calibri" panose="020F0502020204030204" pitchFamily="34" charset="0"/>
                <a:ea typeface="Calibri" panose="020F0502020204030204" pitchFamily="34" charset="0"/>
                <a:cs typeface="Times New Roman" panose="02020603050405020304" pitchFamily="18" charset="0"/>
              </a:rPr>
              <a:t> Theories on Organizational Configuration to Archival Appraisal’. </a:t>
            </a:r>
            <a:r>
              <a:rPr lang="en-GB" i="1" dirty="0" err="1">
                <a:solidFill>
                  <a:prstClr val="black"/>
                </a:solidFill>
                <a:latin typeface="Calibri" panose="020F0502020204030204" pitchFamily="34" charset="0"/>
                <a:ea typeface="Calibri" panose="020F0502020204030204" pitchFamily="34" charset="0"/>
                <a:cs typeface="Times New Roman" panose="02020603050405020304" pitchFamily="18" charset="0"/>
              </a:rPr>
              <a:t>Archivaria</a:t>
            </a:r>
            <a:r>
              <a:rPr lang="en-GB" dirty="0">
                <a:solidFill>
                  <a:prstClr val="black"/>
                </a:solidFill>
                <a:latin typeface="Calibri" panose="020F0502020204030204" pitchFamily="34" charset="0"/>
                <a:ea typeface="Calibri" panose="020F0502020204030204" pitchFamily="34" charset="0"/>
                <a:cs typeface="Times New Roman" panose="02020603050405020304" pitchFamily="18" charset="0"/>
              </a:rPr>
              <a:t> 46 (Fall), 32-85</a:t>
            </a:r>
            <a:endParaRPr lang="en-GB" dirty="0"/>
          </a:p>
          <a:p>
            <a:r>
              <a:rPr lang="en-GB" dirty="0"/>
              <a:t>Mullins, L. J. (2016). </a:t>
            </a:r>
            <a:r>
              <a:rPr lang="en-GB" i="1" dirty="0"/>
              <a:t>Management &amp; Organisational Behaviour.</a:t>
            </a:r>
            <a:r>
              <a:rPr lang="en-GB" dirty="0"/>
              <a:t> (11th, Ed.) Harlow: Pearson.</a:t>
            </a:r>
          </a:p>
          <a:p>
            <a:r>
              <a:rPr lang="en-GB" dirty="0"/>
              <a:t>NATIONAL AUDIT OFFICE, 27 October 1999. </a:t>
            </a:r>
            <a:r>
              <a:rPr lang="en-GB" i="1" dirty="0"/>
              <a:t>The Passport delays of Summer 1999.</a:t>
            </a:r>
            <a:endParaRPr lang="en-GB" dirty="0"/>
          </a:p>
          <a:p>
            <a:r>
              <a:rPr lang="en-GB" dirty="0"/>
              <a:t>Needle, D. (2015). </a:t>
            </a:r>
            <a:r>
              <a:rPr lang="en-GB" i="1" dirty="0"/>
              <a:t>Business in Context.</a:t>
            </a:r>
            <a:r>
              <a:rPr lang="en-GB" dirty="0"/>
              <a:t> Andover: Cengage.</a:t>
            </a:r>
          </a:p>
          <a:p>
            <a:r>
              <a:rPr lang="en-GB" dirty="0"/>
              <a:t>Online Talent Manager (2018) The Quinn Model: A model of personality in the Competing Values Framework. [online] available from </a:t>
            </a:r>
            <a:r>
              <a:rPr lang="en-GB" dirty="0">
                <a:hlinkClick r:id="rId2"/>
              </a:rPr>
              <a:t>http://www.onlinetalentmanager.com/products/quinnmodel </a:t>
            </a:r>
            <a:r>
              <a:rPr lang="en-GB" dirty="0"/>
              <a:t> [25 September 2018]</a:t>
            </a:r>
          </a:p>
          <a:p>
            <a:r>
              <a:rPr lang="en-GB" dirty="0"/>
              <a:t>PATON, R.A., and MCCALMAN, J., (2000) </a:t>
            </a:r>
            <a:r>
              <a:rPr lang="en-GB" i="1" dirty="0"/>
              <a:t>Change Management: An Guide to Effective Implementation </a:t>
            </a:r>
            <a:r>
              <a:rPr lang="en-GB" dirty="0"/>
              <a:t> 2</a:t>
            </a:r>
            <a:r>
              <a:rPr lang="en-GB" baseline="30000" dirty="0"/>
              <a:t>nd</a:t>
            </a:r>
            <a:r>
              <a:rPr lang="en-GB" dirty="0"/>
              <a:t> Ed London: Sage Publications Ltd.</a:t>
            </a:r>
          </a:p>
          <a:p>
            <a:r>
              <a:rPr lang="en-GB" dirty="0" err="1"/>
              <a:t>Slocombe</a:t>
            </a:r>
            <a:r>
              <a:rPr lang="en-GB" dirty="0"/>
              <a:t>, J (2009) </a:t>
            </a:r>
            <a:r>
              <a:rPr lang="en-GB" i="1" dirty="0"/>
              <a:t>Organisational Structure</a:t>
            </a:r>
            <a:r>
              <a:rPr lang="en-GB" dirty="0"/>
              <a:t>. [online] available from &lt; </a:t>
            </a:r>
            <a:r>
              <a:rPr lang="en-GB" dirty="0">
                <a:hlinkClick r:id="rId3"/>
              </a:rPr>
              <a:t>https://www.youtube.com/watch?v=R-m8grawp1k</a:t>
            </a:r>
            <a:r>
              <a:rPr lang="en-GB" dirty="0"/>
              <a:t> &gt; [25 September 2018] </a:t>
            </a:r>
          </a:p>
          <a:p>
            <a:r>
              <a:rPr lang="en-GB" dirty="0"/>
              <a:t>Smart, P &amp; </a:t>
            </a:r>
            <a:r>
              <a:rPr lang="en-GB" dirty="0" err="1"/>
              <a:t>Inazawa</a:t>
            </a:r>
            <a:r>
              <a:rPr lang="en-GB" dirty="0"/>
              <a:t>, K. (2011) </a:t>
            </a:r>
            <a:r>
              <a:rPr lang="en-GB" i="1" dirty="0"/>
              <a:t>Human Resource Management in the Public Sector</a:t>
            </a:r>
            <a:r>
              <a:rPr lang="en-GB" dirty="0"/>
              <a:t>. Hyogo: </a:t>
            </a:r>
            <a:r>
              <a:rPr lang="en-GB" dirty="0" err="1"/>
              <a:t>Kwansei</a:t>
            </a:r>
            <a:r>
              <a:rPr lang="en-GB" dirty="0"/>
              <a:t> </a:t>
            </a:r>
            <a:r>
              <a:rPr lang="en-GB" dirty="0" err="1"/>
              <a:t>Gaukuin</a:t>
            </a:r>
            <a:r>
              <a:rPr lang="en-GB" dirty="0"/>
              <a:t> University Press</a:t>
            </a:r>
          </a:p>
          <a:p>
            <a:endParaRPr lang="en-GB" dirty="0"/>
          </a:p>
        </p:txBody>
      </p:sp>
    </p:spTree>
    <p:extLst>
      <p:ext uri="{BB962C8B-B14F-4D97-AF65-F5344CB8AC3E}">
        <p14:creationId xmlns:p14="http://schemas.microsoft.com/office/powerpoint/2010/main" val="34950771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94363C-D77B-FB75-B01A-B798087392E1}"/>
              </a:ext>
            </a:extLst>
          </p:cNvPr>
          <p:cNvSpPr>
            <a:spLocks noGrp="1"/>
          </p:cNvSpPr>
          <p:nvPr>
            <p:ph type="title"/>
          </p:nvPr>
        </p:nvSpPr>
        <p:spPr>
          <a:xfrm>
            <a:off x="838200" y="1435642"/>
            <a:ext cx="10515600" cy="1325563"/>
          </a:xfrm>
        </p:spPr>
        <p:txBody>
          <a:bodyPr>
            <a:normAutofit fontScale="90000"/>
          </a:bodyPr>
          <a:lstStyle/>
          <a:p>
            <a:pPr algn="ctr"/>
            <a:r>
              <a:rPr lang="pl-PL" sz="6600" dirty="0" err="1"/>
              <a:t>Pawel.Jacek.Sawicki@gmail.com</a:t>
            </a:r>
            <a:endParaRPr lang="pl-PL" sz="6600" dirty="0"/>
          </a:p>
        </p:txBody>
      </p:sp>
      <p:sp>
        <p:nvSpPr>
          <p:cNvPr id="4" name="Tytuł 1">
            <a:extLst>
              <a:ext uri="{FF2B5EF4-FFF2-40B4-BE49-F238E27FC236}">
                <a16:creationId xmlns:a16="http://schemas.microsoft.com/office/drawing/2014/main" id="{2E157D39-5A9F-9C96-1674-24191284CDAB}"/>
              </a:ext>
            </a:extLst>
          </p:cNvPr>
          <p:cNvSpPr txBox="1">
            <a:spLocks/>
          </p:cNvSpPr>
          <p:nvPr/>
        </p:nvSpPr>
        <p:spPr>
          <a:xfrm>
            <a:off x="838200" y="2903885"/>
            <a:ext cx="10515600"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l-PL" sz="6600" dirty="0" err="1"/>
              <a:t>Friday</a:t>
            </a:r>
            <a:r>
              <a:rPr lang="pl-PL" sz="6600" dirty="0"/>
              <a:t>: 9-11</a:t>
            </a:r>
          </a:p>
        </p:txBody>
      </p:sp>
    </p:spTree>
    <p:extLst>
      <p:ext uri="{BB962C8B-B14F-4D97-AF65-F5344CB8AC3E}">
        <p14:creationId xmlns:p14="http://schemas.microsoft.com/office/powerpoint/2010/main" val="24298895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2192</TotalTime>
  <Words>1094</Words>
  <Application>Microsoft Macintosh PowerPoint</Application>
  <PresentationFormat>Panoramiczny</PresentationFormat>
  <Paragraphs>113</Paragraphs>
  <Slides>19</Slides>
  <Notes>2</Notes>
  <HiddenSlides>0</HiddenSlides>
  <MMClips>3</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19</vt:i4>
      </vt:variant>
    </vt:vector>
  </HeadingPairs>
  <TitlesOfParts>
    <vt:vector size="23" baseType="lpstr">
      <vt:lpstr>Arial</vt:lpstr>
      <vt:lpstr>Calibri</vt:lpstr>
      <vt:lpstr>Calibri Light</vt:lpstr>
      <vt:lpstr>Office Theme</vt:lpstr>
      <vt:lpstr>Prezentacja programu PowerPoint</vt:lpstr>
      <vt:lpstr>Learning Objective</vt:lpstr>
      <vt:lpstr>Activity – 5 minutes</vt:lpstr>
      <vt:lpstr>Business Organisations : Internal Environment</vt:lpstr>
      <vt:lpstr>The Concept of…’Organisation’</vt:lpstr>
      <vt:lpstr>What are Organisations?</vt:lpstr>
      <vt:lpstr>Hofstede’s cultural model</vt:lpstr>
      <vt:lpstr>Prezentacja programu PowerPoint</vt:lpstr>
      <vt:lpstr>Hofstede’s Basic of dimensions of culture</vt:lpstr>
      <vt:lpstr>Prezentacja programu PowerPoint</vt:lpstr>
      <vt:lpstr>Prezentacja programu PowerPoint</vt:lpstr>
      <vt:lpstr>The Problems with ‘Strong’ Cultures</vt:lpstr>
      <vt:lpstr>Application: Zappos</vt:lpstr>
      <vt:lpstr>Culture Task</vt:lpstr>
      <vt:lpstr>Organisation Structure</vt:lpstr>
      <vt:lpstr>Prezentacja programu PowerPoint</vt:lpstr>
      <vt:lpstr>So…What does this structure enable?</vt:lpstr>
      <vt:lpstr>References</vt:lpstr>
      <vt:lpstr>Pawel.Jacek.Sawicki@gmail.com</vt:lpstr>
    </vt:vector>
  </TitlesOfParts>
  <Company>Coventry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Clare Garrick</dc:creator>
  <cp:lastModifiedBy>Pawel Sawicki</cp:lastModifiedBy>
  <cp:revision>732</cp:revision>
  <cp:lastPrinted>2019-03-21T13:10:46Z</cp:lastPrinted>
  <dcterms:created xsi:type="dcterms:W3CDTF">2019-03-13T11:10:55Z</dcterms:created>
  <dcterms:modified xsi:type="dcterms:W3CDTF">2025-01-14T17:36:32Z</dcterms:modified>
</cp:coreProperties>
</file>