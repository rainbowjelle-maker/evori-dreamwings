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474" r:id="rId2"/>
    <p:sldId id="484" r:id="rId3"/>
    <p:sldId id="438" r:id="rId4"/>
    <p:sldId id="392" r:id="rId5"/>
    <p:sldId id="486" r:id="rId6"/>
    <p:sldId id="393" r:id="rId7"/>
    <p:sldId id="488" r:id="rId8"/>
    <p:sldId id="492" r:id="rId9"/>
    <p:sldId id="493" r:id="rId10"/>
    <p:sldId id="394" r:id="rId11"/>
    <p:sldId id="487" r:id="rId12"/>
    <p:sldId id="466" r:id="rId13"/>
    <p:sldId id="467" r:id="rId14"/>
    <p:sldId id="481" r:id="rId15"/>
    <p:sldId id="483" r:id="rId16"/>
    <p:sldId id="450" r:id="rId17"/>
    <p:sldId id="451" r:id="rId18"/>
    <p:sldId id="495" r:id="rId19"/>
    <p:sldId id="496" r:id="rId20"/>
    <p:sldId id="489" r:id="rId21"/>
    <p:sldId id="472" r:id="rId22"/>
    <p:sldId id="456" r:id="rId23"/>
    <p:sldId id="458" r:id="rId24"/>
    <p:sldId id="497" r:id="rId25"/>
    <p:sldId id="491" r:id="rId26"/>
    <p:sldId id="498" r:id="rId27"/>
    <p:sldId id="473" r:id="rId28"/>
    <p:sldId id="490" r:id="rId29"/>
    <p:sldId id="461" r:id="rId30"/>
  </p:sldIdLst>
  <p:sldSz cx="12192000" cy="6858000"/>
  <p:notesSz cx="6794500" cy="990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wel Sawicki" initials="PS" lastIdx="1" clrIdx="0">
    <p:extLst>
      <p:ext uri="{19B8F6BF-5375-455C-9EA6-DF929625EA0E}">
        <p15:presenceInfo xmlns:p15="http://schemas.microsoft.com/office/powerpoint/2012/main" userId="801aba41b8311c0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22DE5C"/>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03AE1D-9D10-4BA7-BC5F-A0F904A83BA8}" v="2" dt="2023-08-18T11:52:14.5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90" autoAdjust="0"/>
    <p:restoredTop sz="94720"/>
  </p:normalViewPr>
  <p:slideViewPr>
    <p:cSldViewPr snapToGrid="0">
      <p:cViewPr varScale="1">
        <p:scale>
          <a:sx n="211" d="100"/>
          <a:sy n="211" d="100"/>
        </p:scale>
        <p:origin x="400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Bird" userId="972cd707-37b4-43d1-9129-42033b26a2c3" providerId="ADAL" clId="{8A03AE1D-9D10-4BA7-BC5F-A0F904A83BA8}"/>
    <pc:docChg chg="undo custSel addSld delSld modSld">
      <pc:chgData name="Jon Bird" userId="972cd707-37b4-43d1-9129-42033b26a2c3" providerId="ADAL" clId="{8A03AE1D-9D10-4BA7-BC5F-A0F904A83BA8}" dt="2023-08-18T11:57:16.436" v="319" actId="1076"/>
      <pc:docMkLst>
        <pc:docMk/>
      </pc:docMkLst>
      <pc:sldChg chg="modSp mod">
        <pc:chgData name="Jon Bird" userId="972cd707-37b4-43d1-9129-42033b26a2c3" providerId="ADAL" clId="{8A03AE1D-9D10-4BA7-BC5F-A0F904A83BA8}" dt="2023-08-18T11:47:28.870" v="136" actId="20577"/>
        <pc:sldMkLst>
          <pc:docMk/>
          <pc:sldMk cId="1632856908" sldId="392"/>
        </pc:sldMkLst>
        <pc:spChg chg="mod">
          <ac:chgData name="Jon Bird" userId="972cd707-37b4-43d1-9129-42033b26a2c3" providerId="ADAL" clId="{8A03AE1D-9D10-4BA7-BC5F-A0F904A83BA8}" dt="2023-08-18T11:47:28.870" v="136" actId="20577"/>
          <ac:spMkLst>
            <pc:docMk/>
            <pc:sldMk cId="1632856908" sldId="392"/>
            <ac:spMk id="2" creationId="{11C1B2FD-CAF1-EB70-DE25-2B3BA49E0EA1}"/>
          </ac:spMkLst>
        </pc:spChg>
      </pc:sldChg>
      <pc:sldChg chg="modSp mod">
        <pc:chgData name="Jon Bird" userId="972cd707-37b4-43d1-9129-42033b26a2c3" providerId="ADAL" clId="{8A03AE1D-9D10-4BA7-BC5F-A0F904A83BA8}" dt="2023-08-18T11:52:47.388" v="172" actId="20577"/>
        <pc:sldMkLst>
          <pc:docMk/>
          <pc:sldMk cId="3870878579" sldId="393"/>
        </pc:sldMkLst>
        <pc:spChg chg="mod">
          <ac:chgData name="Jon Bird" userId="972cd707-37b4-43d1-9129-42033b26a2c3" providerId="ADAL" clId="{8A03AE1D-9D10-4BA7-BC5F-A0F904A83BA8}" dt="2023-08-18T11:52:47.388" v="172" actId="20577"/>
          <ac:spMkLst>
            <pc:docMk/>
            <pc:sldMk cId="3870878579" sldId="393"/>
            <ac:spMk id="2" creationId="{00000000-0000-0000-0000-000000000000}"/>
          </ac:spMkLst>
        </pc:spChg>
        <pc:spChg chg="mod">
          <ac:chgData name="Jon Bird" userId="972cd707-37b4-43d1-9129-42033b26a2c3" providerId="ADAL" clId="{8A03AE1D-9D10-4BA7-BC5F-A0F904A83BA8}" dt="2023-08-18T11:45:00.348" v="17" actId="20577"/>
          <ac:spMkLst>
            <pc:docMk/>
            <pc:sldMk cId="3870878579" sldId="393"/>
            <ac:spMk id="3" creationId="{00000000-0000-0000-0000-000000000000}"/>
          </ac:spMkLst>
        </pc:spChg>
        <pc:spChg chg="mod">
          <ac:chgData name="Jon Bird" userId="972cd707-37b4-43d1-9129-42033b26a2c3" providerId="ADAL" clId="{8A03AE1D-9D10-4BA7-BC5F-A0F904A83BA8}" dt="2023-08-18T11:45:14.360" v="25" actId="20577"/>
          <ac:spMkLst>
            <pc:docMk/>
            <pc:sldMk cId="3870878579" sldId="393"/>
            <ac:spMk id="5" creationId="{00000000-0000-0000-0000-000000000000}"/>
          </ac:spMkLst>
        </pc:spChg>
      </pc:sldChg>
      <pc:sldChg chg="modSp mod">
        <pc:chgData name="Jon Bird" userId="972cd707-37b4-43d1-9129-42033b26a2c3" providerId="ADAL" clId="{8A03AE1D-9D10-4BA7-BC5F-A0F904A83BA8}" dt="2023-08-18T11:55:37.429" v="272" actId="5793"/>
        <pc:sldMkLst>
          <pc:docMk/>
          <pc:sldMk cId="860541007" sldId="438"/>
        </pc:sldMkLst>
        <pc:spChg chg="mod">
          <ac:chgData name="Jon Bird" userId="972cd707-37b4-43d1-9129-42033b26a2c3" providerId="ADAL" clId="{8A03AE1D-9D10-4BA7-BC5F-A0F904A83BA8}" dt="2023-08-18T11:55:37.429" v="272" actId="5793"/>
          <ac:spMkLst>
            <pc:docMk/>
            <pc:sldMk cId="860541007" sldId="438"/>
            <ac:spMk id="11" creationId="{00000000-0000-0000-0000-000000000000}"/>
          </ac:spMkLst>
        </pc:spChg>
      </pc:sldChg>
      <pc:sldChg chg="modSp mod">
        <pc:chgData name="Jon Bird" userId="972cd707-37b4-43d1-9129-42033b26a2c3" providerId="ADAL" clId="{8A03AE1D-9D10-4BA7-BC5F-A0F904A83BA8}" dt="2023-08-18T11:44:08.983" v="1" actId="20577"/>
        <pc:sldMkLst>
          <pc:docMk/>
          <pc:sldMk cId="3678351537" sldId="474"/>
        </pc:sldMkLst>
        <pc:spChg chg="mod">
          <ac:chgData name="Jon Bird" userId="972cd707-37b4-43d1-9129-42033b26a2c3" providerId="ADAL" clId="{8A03AE1D-9D10-4BA7-BC5F-A0F904A83BA8}" dt="2023-08-18T11:44:08.983" v="1" actId="20577"/>
          <ac:spMkLst>
            <pc:docMk/>
            <pc:sldMk cId="3678351537" sldId="474"/>
            <ac:spMk id="4" creationId="{C4898DC1-5A97-4EA2-862C-774085F89BCA}"/>
          </ac:spMkLst>
        </pc:spChg>
      </pc:sldChg>
      <pc:sldChg chg="del">
        <pc:chgData name="Jon Bird" userId="972cd707-37b4-43d1-9129-42033b26a2c3" providerId="ADAL" clId="{8A03AE1D-9D10-4BA7-BC5F-A0F904A83BA8}" dt="2023-08-18T11:44:33.574" v="2" actId="47"/>
        <pc:sldMkLst>
          <pc:docMk/>
          <pc:sldMk cId="659975260" sldId="475"/>
        </pc:sldMkLst>
      </pc:sldChg>
      <pc:sldChg chg="modSp mod">
        <pc:chgData name="Jon Bird" userId="972cd707-37b4-43d1-9129-42033b26a2c3" providerId="ADAL" clId="{8A03AE1D-9D10-4BA7-BC5F-A0F904A83BA8}" dt="2023-08-18T11:53:22.655" v="196" actId="20577"/>
        <pc:sldMkLst>
          <pc:docMk/>
          <pc:sldMk cId="245514416" sldId="484"/>
        </pc:sldMkLst>
        <pc:spChg chg="mod">
          <ac:chgData name="Jon Bird" userId="972cd707-37b4-43d1-9129-42033b26a2c3" providerId="ADAL" clId="{8A03AE1D-9D10-4BA7-BC5F-A0F904A83BA8}" dt="2023-08-18T11:53:22.655" v="196" actId="20577"/>
          <ac:spMkLst>
            <pc:docMk/>
            <pc:sldMk cId="245514416" sldId="484"/>
            <ac:spMk id="2" creationId="{24302D2D-B8BA-F42B-3F59-8F652B8F52E2}"/>
          </ac:spMkLst>
        </pc:spChg>
      </pc:sldChg>
      <pc:sldChg chg="modSp mod">
        <pc:chgData name="Jon Bird" userId="972cd707-37b4-43d1-9129-42033b26a2c3" providerId="ADAL" clId="{8A03AE1D-9D10-4BA7-BC5F-A0F904A83BA8}" dt="2023-08-18T11:52:40.476" v="167" actId="27636"/>
        <pc:sldMkLst>
          <pc:docMk/>
          <pc:sldMk cId="639388252" sldId="486"/>
        </pc:sldMkLst>
        <pc:spChg chg="mod">
          <ac:chgData name="Jon Bird" userId="972cd707-37b4-43d1-9129-42033b26a2c3" providerId="ADAL" clId="{8A03AE1D-9D10-4BA7-BC5F-A0F904A83BA8}" dt="2023-08-18T11:52:40.476" v="167" actId="27636"/>
          <ac:spMkLst>
            <pc:docMk/>
            <pc:sldMk cId="639388252" sldId="486"/>
            <ac:spMk id="3" creationId="{54786B60-B7DE-6524-CAFA-1414440D1357}"/>
          </ac:spMkLst>
        </pc:spChg>
      </pc:sldChg>
      <pc:sldChg chg="addSp delSp modSp mod">
        <pc:chgData name="Jon Bird" userId="972cd707-37b4-43d1-9129-42033b26a2c3" providerId="ADAL" clId="{8A03AE1D-9D10-4BA7-BC5F-A0F904A83BA8}" dt="2023-08-18T11:50:46.145" v="148" actId="22"/>
        <pc:sldMkLst>
          <pc:docMk/>
          <pc:sldMk cId="2639191437" sldId="488"/>
        </pc:sldMkLst>
        <pc:spChg chg="del">
          <ac:chgData name="Jon Bird" userId="972cd707-37b4-43d1-9129-42033b26a2c3" providerId="ADAL" clId="{8A03AE1D-9D10-4BA7-BC5F-A0F904A83BA8}" dt="2023-08-18T11:50:24.389" v="142" actId="478"/>
          <ac:spMkLst>
            <pc:docMk/>
            <pc:sldMk cId="2639191437" sldId="488"/>
            <ac:spMk id="3" creationId="{3FF1F3F6-0F99-B0C9-E8D2-F001738F92EC}"/>
          </ac:spMkLst>
        </pc:spChg>
        <pc:spChg chg="add del mod">
          <ac:chgData name="Jon Bird" userId="972cd707-37b4-43d1-9129-42033b26a2c3" providerId="ADAL" clId="{8A03AE1D-9D10-4BA7-BC5F-A0F904A83BA8}" dt="2023-08-18T11:50:29.769" v="143" actId="478"/>
          <ac:spMkLst>
            <pc:docMk/>
            <pc:sldMk cId="2639191437" sldId="488"/>
            <ac:spMk id="7" creationId="{F9EEBC6A-F2E3-C5E8-6FE1-063F491A4A32}"/>
          </ac:spMkLst>
        </pc:spChg>
        <pc:picChg chg="add mod modCrop">
          <ac:chgData name="Jon Bird" userId="972cd707-37b4-43d1-9129-42033b26a2c3" providerId="ADAL" clId="{8A03AE1D-9D10-4BA7-BC5F-A0F904A83BA8}" dt="2023-08-18T11:50:39.231" v="146" actId="1076"/>
          <ac:picMkLst>
            <pc:docMk/>
            <pc:sldMk cId="2639191437" sldId="488"/>
            <ac:picMk id="5" creationId="{9FB99B2A-599E-753F-8501-8F94128C2E72}"/>
          </ac:picMkLst>
        </pc:picChg>
        <pc:picChg chg="add del">
          <ac:chgData name="Jon Bird" userId="972cd707-37b4-43d1-9129-42033b26a2c3" providerId="ADAL" clId="{8A03AE1D-9D10-4BA7-BC5F-A0F904A83BA8}" dt="2023-08-18T11:50:46.145" v="148" actId="22"/>
          <ac:picMkLst>
            <pc:docMk/>
            <pc:sldMk cId="2639191437" sldId="488"/>
            <ac:picMk id="9" creationId="{7B79885C-C4CD-3AE1-B0AA-3ECFBB1B281C}"/>
          </ac:picMkLst>
        </pc:picChg>
      </pc:sldChg>
      <pc:sldChg chg="addSp delSp modSp add mod">
        <pc:chgData name="Jon Bird" userId="972cd707-37b4-43d1-9129-42033b26a2c3" providerId="ADAL" clId="{8A03AE1D-9D10-4BA7-BC5F-A0F904A83BA8}" dt="2023-08-18T11:51:33.989" v="158" actId="1076"/>
        <pc:sldMkLst>
          <pc:docMk/>
          <pc:sldMk cId="2251516972" sldId="492"/>
        </pc:sldMkLst>
        <pc:picChg chg="add mod modCrop">
          <ac:chgData name="Jon Bird" userId="972cd707-37b4-43d1-9129-42033b26a2c3" providerId="ADAL" clId="{8A03AE1D-9D10-4BA7-BC5F-A0F904A83BA8}" dt="2023-08-18T11:51:33.989" v="158" actId="1076"/>
          <ac:picMkLst>
            <pc:docMk/>
            <pc:sldMk cId="2251516972" sldId="492"/>
            <ac:picMk id="4" creationId="{30764951-439A-1D49-149D-0D8588D23832}"/>
          </ac:picMkLst>
        </pc:picChg>
        <pc:picChg chg="del">
          <ac:chgData name="Jon Bird" userId="972cd707-37b4-43d1-9129-42033b26a2c3" providerId="ADAL" clId="{8A03AE1D-9D10-4BA7-BC5F-A0F904A83BA8}" dt="2023-08-18T11:50:52.273" v="150" actId="478"/>
          <ac:picMkLst>
            <pc:docMk/>
            <pc:sldMk cId="2251516972" sldId="492"/>
            <ac:picMk id="5" creationId="{9FB99B2A-599E-753F-8501-8F94128C2E72}"/>
          </ac:picMkLst>
        </pc:picChg>
      </pc:sldChg>
      <pc:sldChg chg="modSp add mod">
        <pc:chgData name="Jon Bird" userId="972cd707-37b4-43d1-9129-42033b26a2c3" providerId="ADAL" clId="{8A03AE1D-9D10-4BA7-BC5F-A0F904A83BA8}" dt="2023-08-18T11:52:34.609" v="165" actId="27636"/>
        <pc:sldMkLst>
          <pc:docMk/>
          <pc:sldMk cId="1489626327" sldId="493"/>
        </pc:sldMkLst>
        <pc:spChg chg="mod">
          <ac:chgData name="Jon Bird" userId="972cd707-37b4-43d1-9129-42033b26a2c3" providerId="ADAL" clId="{8A03AE1D-9D10-4BA7-BC5F-A0F904A83BA8}" dt="2023-08-18T11:52:34.609" v="165" actId="27636"/>
          <ac:spMkLst>
            <pc:docMk/>
            <pc:sldMk cId="1489626327" sldId="493"/>
            <ac:spMk id="3" creationId="{54786B60-B7DE-6524-CAFA-1414440D1357}"/>
          </ac:spMkLst>
        </pc:spChg>
      </pc:sldChg>
      <pc:sldChg chg="addSp delSp modSp new mod">
        <pc:chgData name="Jon Bird" userId="972cd707-37b4-43d1-9129-42033b26a2c3" providerId="ADAL" clId="{8A03AE1D-9D10-4BA7-BC5F-A0F904A83BA8}" dt="2023-08-18T11:57:16.436" v="319" actId="1076"/>
        <pc:sldMkLst>
          <pc:docMk/>
          <pc:sldMk cId="2470371154" sldId="494"/>
        </pc:sldMkLst>
        <pc:spChg chg="mod">
          <ac:chgData name="Jon Bird" userId="972cd707-37b4-43d1-9129-42033b26a2c3" providerId="ADAL" clId="{8A03AE1D-9D10-4BA7-BC5F-A0F904A83BA8}" dt="2023-08-18T11:56:42.744" v="309" actId="2711"/>
          <ac:spMkLst>
            <pc:docMk/>
            <pc:sldMk cId="2470371154" sldId="494"/>
            <ac:spMk id="2" creationId="{6F7A2BDB-CB9A-15F2-FAD6-250CBCC8C72B}"/>
          </ac:spMkLst>
        </pc:spChg>
        <pc:spChg chg="del">
          <ac:chgData name="Jon Bird" userId="972cd707-37b4-43d1-9129-42033b26a2c3" providerId="ADAL" clId="{8A03AE1D-9D10-4BA7-BC5F-A0F904A83BA8}" dt="2023-08-18T11:56:46.912" v="310" actId="478"/>
          <ac:spMkLst>
            <pc:docMk/>
            <pc:sldMk cId="2470371154" sldId="494"/>
            <ac:spMk id="3" creationId="{11DD4A61-2E49-8AF4-8E02-6C62B54B663B}"/>
          </ac:spMkLst>
        </pc:spChg>
        <pc:spChg chg="del">
          <ac:chgData name="Jon Bird" userId="972cd707-37b4-43d1-9129-42033b26a2c3" providerId="ADAL" clId="{8A03AE1D-9D10-4BA7-BC5F-A0F904A83BA8}" dt="2023-08-18T11:56:48.868" v="311" actId="478"/>
          <ac:spMkLst>
            <pc:docMk/>
            <pc:sldMk cId="2470371154" sldId="494"/>
            <ac:spMk id="4" creationId="{D02A0589-F1EB-0C79-6EAE-50EAC1985486}"/>
          </ac:spMkLst>
        </pc:spChg>
        <pc:picChg chg="add mod modCrop">
          <ac:chgData name="Jon Bird" userId="972cd707-37b4-43d1-9129-42033b26a2c3" providerId="ADAL" clId="{8A03AE1D-9D10-4BA7-BC5F-A0F904A83BA8}" dt="2023-08-18T11:57:16.436" v="319" actId="1076"/>
          <ac:picMkLst>
            <pc:docMk/>
            <pc:sldMk cId="2470371154" sldId="494"/>
            <ac:picMk id="6" creationId="{01D7DD19-0279-CCF5-7B28-B5259083D15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586C0F5F-9B5C-467F-9AAD-988FE06C3E70}" type="datetimeFigureOut">
              <a:rPr lang="en-GB" smtClean="0"/>
              <a:t>16/01/2025</a:t>
            </a:fld>
            <a:endParaRPr lang="en-GB"/>
          </a:p>
        </p:txBody>
      </p:sp>
      <p:sp>
        <p:nvSpPr>
          <p:cNvPr id="4" name="Slide Image Placeholder 3"/>
          <p:cNvSpPr>
            <a:spLocks noGrp="1" noRot="1" noChangeAspect="1"/>
          </p:cNvSpPr>
          <p:nvPr>
            <p:ph type="sldImg" idx="2"/>
          </p:nvPr>
        </p:nvSpPr>
        <p:spPr>
          <a:xfrm>
            <a:off x="425450" y="1238250"/>
            <a:ext cx="5943600" cy="33432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67263"/>
            <a:ext cx="5435600" cy="390048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09113"/>
            <a:ext cx="2944813" cy="4968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100" y="9409113"/>
            <a:ext cx="2944813" cy="496887"/>
          </a:xfrm>
          <a:prstGeom prst="rect">
            <a:avLst/>
          </a:prstGeom>
        </p:spPr>
        <p:txBody>
          <a:bodyPr vert="horz" lIns="91440" tIns="45720" rIns="91440" bIns="45720" rtlCol="0" anchor="b"/>
          <a:lstStyle>
            <a:lvl1pPr algn="r">
              <a:defRPr sz="1200"/>
            </a:lvl1pPr>
          </a:lstStyle>
          <a:p>
            <a:fld id="{80568575-78D5-4409-B069-C08F0145EF51}" type="slidenum">
              <a:rPr lang="en-GB" smtClean="0"/>
              <a:t>‹#›</a:t>
            </a:fld>
            <a:endParaRPr lang="en-GB"/>
          </a:p>
        </p:txBody>
      </p:sp>
    </p:spTree>
    <p:extLst>
      <p:ext uri="{BB962C8B-B14F-4D97-AF65-F5344CB8AC3E}">
        <p14:creationId xmlns:p14="http://schemas.microsoft.com/office/powerpoint/2010/main" val="151240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GB" altLang="en-US"/>
              <a:t>Take the example of a retailer wishing to start trading.</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AFE09DC-0B08-47EB-AAC1-207B16AEA7FE}" type="slidenum">
              <a:rPr kumimoji="0" lang="en-GB"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53377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80568575-78D5-4409-B069-C08F0145EF51}" type="slidenum">
              <a:rPr lang="en-GB" smtClean="0"/>
              <a:t>28</a:t>
            </a:fld>
            <a:endParaRPr lang="en-GB"/>
          </a:p>
        </p:txBody>
      </p:sp>
    </p:spTree>
    <p:extLst>
      <p:ext uri="{BB962C8B-B14F-4D97-AF65-F5344CB8AC3E}">
        <p14:creationId xmlns:p14="http://schemas.microsoft.com/office/powerpoint/2010/main" val="2526639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80568575-78D5-4409-B069-C08F0145EF51}" type="slidenum">
              <a:rPr lang="en-GB" smtClean="0"/>
              <a:t>29</a:t>
            </a:fld>
            <a:endParaRPr lang="en-GB"/>
          </a:p>
        </p:txBody>
      </p:sp>
    </p:spTree>
    <p:extLst>
      <p:ext uri="{BB962C8B-B14F-4D97-AF65-F5344CB8AC3E}">
        <p14:creationId xmlns:p14="http://schemas.microsoft.com/office/powerpoint/2010/main" val="26395998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pic>
        <p:nvPicPr>
          <p:cNvPr id="7" name="Picture 6" descr="CU0106 CUSC Staff Induction - Presentation_3.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33576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520271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1041602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79271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364203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80135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588250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725657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3626838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3273826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9A72284-5A93-C84B-B495-6FB01BB097C8}"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12397095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t="8540" b="15848"/>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01688" y="757238"/>
            <a:ext cx="4972050"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492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72284-5A93-C84B-B495-6FB01BB097C8}" type="datetimeFigureOut">
              <a:rPr lang="en-US" smtClean="0"/>
              <a:t>1/16/25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0C0B4-92AC-8D49-B99D-89C76F131BAF}" type="slidenum">
              <a:rPr lang="en-US" smtClean="0"/>
              <a:t>‹#›</a:t>
            </a:fld>
            <a:endParaRPr lang="en-US"/>
          </a:p>
        </p:txBody>
      </p:sp>
      <p:pic>
        <p:nvPicPr>
          <p:cNvPr id="7" name="Picture 6" descr="CU0106 CUSC Staff Induction - Presentation_32.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209661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3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cug-coventry.aula.education/#/dashboard/ba48cbdd-b378-4da4-ad6f-39920d9778d8/journey/materials/947295c3-e14d-421c-b465-0a6e9604f0cd"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jf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video" Target="https://www.youtube.com/embed/6N7yc_mjdJQ?feature=oembed"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video" Target="https://www.youtube.com/embed/SKRWvGDRWfg?feature=oembed"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pestleanalysis.com/pestleweb/"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898DC1-5A97-4EA2-862C-774085F89BCA}"/>
              </a:ext>
            </a:extLst>
          </p:cNvPr>
          <p:cNvSpPr txBox="1"/>
          <p:nvPr/>
        </p:nvSpPr>
        <p:spPr>
          <a:xfrm>
            <a:off x="1255805" y="2500542"/>
            <a:ext cx="9453966" cy="3785652"/>
          </a:xfrm>
          <a:prstGeom prst="rect">
            <a:avLst/>
          </a:prstGeom>
          <a:noFill/>
        </p:spPr>
        <p:txBody>
          <a:bodyPr wrap="square" rtlCol="0">
            <a:spAutoFit/>
          </a:bodyPr>
          <a:lstStyle/>
          <a:p>
            <a:pPr algn="ctr"/>
            <a:r>
              <a:rPr lang="en-GB" sz="6000" b="1" dirty="0">
                <a:cs typeface="Calibri Light" panose="020F0302020204030204" pitchFamily="34" charset="0"/>
              </a:rPr>
              <a:t>Welcome to </a:t>
            </a:r>
          </a:p>
          <a:p>
            <a:pPr algn="ctr"/>
            <a:r>
              <a:rPr lang="en-GB" sz="6000" b="1" dirty="0">
                <a:solidFill>
                  <a:schemeClr val="bg1"/>
                </a:solidFill>
                <a:cs typeface="Calibri Light" panose="020F0302020204030204" pitchFamily="34" charset="0"/>
              </a:rPr>
              <a:t>401MAN</a:t>
            </a:r>
          </a:p>
          <a:p>
            <a:pPr algn="ctr"/>
            <a:r>
              <a:rPr lang="en-GB" sz="6000" b="1" dirty="0">
                <a:solidFill>
                  <a:schemeClr val="bg1"/>
                </a:solidFill>
                <a:cs typeface="Calibri Light" panose="020F0302020204030204" pitchFamily="34" charset="0"/>
              </a:rPr>
              <a:t>The Business Environment</a:t>
            </a:r>
          </a:p>
          <a:p>
            <a:pPr algn="ctr"/>
            <a:endParaRPr lang="en-GB" sz="6000" b="1" dirty="0">
              <a:solidFill>
                <a:schemeClr val="bg1"/>
              </a:solidFill>
              <a:cs typeface="Calibri Light" panose="020F0302020204030204" pitchFamily="34" charset="0"/>
            </a:endParaRPr>
          </a:p>
        </p:txBody>
      </p:sp>
    </p:spTree>
    <p:extLst>
      <p:ext uri="{BB962C8B-B14F-4D97-AF65-F5344CB8AC3E}">
        <p14:creationId xmlns:p14="http://schemas.microsoft.com/office/powerpoint/2010/main" val="3678351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2D2D-B8BA-F42B-3F59-8F652B8F52E2}"/>
              </a:ext>
            </a:extLst>
          </p:cNvPr>
          <p:cNvSpPr>
            <a:spLocks noGrp="1"/>
          </p:cNvSpPr>
          <p:nvPr>
            <p:ph type="title"/>
          </p:nvPr>
        </p:nvSpPr>
        <p:spPr/>
        <p:txBody>
          <a:bodyPr/>
          <a:lstStyle/>
          <a:p>
            <a:pPr algn="ctr"/>
            <a:r>
              <a:rPr lang="en-GB" b="1">
                <a:solidFill>
                  <a:schemeClr val="accent4"/>
                </a:solidFill>
                <a:latin typeface="+mn-lt"/>
                <a:cs typeface="Arial" panose="020B0604020202020204" pitchFamily="34" charset="0"/>
              </a:rPr>
              <a:t>Welcome Back! And Welcome to CUW!</a:t>
            </a:r>
            <a:endParaRPr lang="en-GB" dirty="0"/>
          </a:p>
        </p:txBody>
      </p:sp>
      <p:sp>
        <p:nvSpPr>
          <p:cNvPr id="3" name="Content Placeholder 2">
            <a:extLst>
              <a:ext uri="{FF2B5EF4-FFF2-40B4-BE49-F238E27FC236}">
                <a16:creationId xmlns:a16="http://schemas.microsoft.com/office/drawing/2014/main" id="{B1470079-ABB8-0024-3EC5-9D3157114FAF}"/>
              </a:ext>
            </a:extLst>
          </p:cNvPr>
          <p:cNvSpPr>
            <a:spLocks noGrp="1"/>
          </p:cNvSpPr>
          <p:nvPr>
            <p:ph idx="1"/>
          </p:nvPr>
        </p:nvSpPr>
        <p:spPr/>
        <p:txBody>
          <a:bodyPr/>
          <a:lstStyle/>
          <a:p>
            <a:r>
              <a:rPr lang="en-GB" dirty="0"/>
              <a:t>Who you are?</a:t>
            </a:r>
          </a:p>
          <a:p>
            <a:r>
              <a:rPr lang="en-GB" dirty="0"/>
              <a:t>What are you looking to achieve through CU?</a:t>
            </a:r>
          </a:p>
          <a:p>
            <a:r>
              <a:rPr lang="en-GB" dirty="0"/>
              <a:t>Something you are passionate about</a:t>
            </a:r>
          </a:p>
          <a:p>
            <a:r>
              <a:rPr lang="en-GB" dirty="0"/>
              <a:t>Fun Fact about you</a:t>
            </a:r>
          </a:p>
          <a:p>
            <a:r>
              <a:rPr lang="en-GB" dirty="0"/>
              <a:t>Most famous person you have ever met</a:t>
            </a:r>
          </a:p>
          <a:p>
            <a:r>
              <a:rPr lang="en-GB" dirty="0"/>
              <a:t>Your personal Motto</a:t>
            </a:r>
          </a:p>
          <a:p>
            <a:r>
              <a:rPr lang="en-GB" dirty="0"/>
              <a:t>Two personal objectives for 2025</a:t>
            </a:r>
          </a:p>
          <a:p>
            <a:r>
              <a:rPr lang="en-GB" dirty="0"/>
              <a:t>Who is your most influential person?</a:t>
            </a:r>
          </a:p>
        </p:txBody>
      </p:sp>
    </p:spTree>
    <p:extLst>
      <p:ext uri="{BB962C8B-B14F-4D97-AF65-F5344CB8AC3E}">
        <p14:creationId xmlns:p14="http://schemas.microsoft.com/office/powerpoint/2010/main" val="24551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sz="half" idx="1"/>
          </p:nvPr>
        </p:nvSpPr>
        <p:spPr>
          <a:xfrm>
            <a:off x="838199" y="1825625"/>
            <a:ext cx="10096893" cy="4351338"/>
          </a:xfrm>
        </p:spPr>
        <p:txBody>
          <a:bodyPr>
            <a:normAutofit/>
          </a:bodyPr>
          <a:lstStyle/>
          <a:p>
            <a:pPr marL="0" indent="0">
              <a:buNone/>
            </a:pPr>
            <a:endParaRPr lang="en-GB" sz="2400" dirty="0"/>
          </a:p>
          <a:p>
            <a:r>
              <a:rPr lang="en-GB" sz="2400" dirty="0"/>
              <a:t>Introduction to this module [401MAN – The Business Environment]</a:t>
            </a:r>
          </a:p>
          <a:p>
            <a:pPr marL="0" indent="0">
              <a:buNone/>
            </a:pPr>
            <a:endParaRPr lang="en-GB" sz="2400" dirty="0"/>
          </a:p>
          <a:p>
            <a:r>
              <a:rPr lang="en-GB" sz="2400" dirty="0"/>
              <a:t>Overview of assignments 1 &amp; 2</a:t>
            </a:r>
          </a:p>
          <a:p>
            <a:pPr marL="0" indent="0">
              <a:buNone/>
            </a:pPr>
            <a:endParaRPr lang="en-GB" sz="2400" dirty="0"/>
          </a:p>
          <a:p>
            <a:r>
              <a:rPr lang="en-GB" sz="2400" dirty="0"/>
              <a:t>What is the business environment?</a:t>
            </a:r>
          </a:p>
          <a:p>
            <a:pPr marL="457200" lvl="1" indent="0">
              <a:buNone/>
            </a:pPr>
            <a:endParaRPr lang="en-GB" sz="2000" dirty="0"/>
          </a:p>
        </p:txBody>
      </p:sp>
      <p:sp>
        <p:nvSpPr>
          <p:cNvPr id="5" name="Title 3">
            <a:extLst>
              <a:ext uri="{FF2B5EF4-FFF2-40B4-BE49-F238E27FC236}">
                <a16:creationId xmlns:a16="http://schemas.microsoft.com/office/drawing/2014/main" id="{2D6F2D56-A5D8-4C2C-9423-19A6F688E428}"/>
              </a:ext>
            </a:extLst>
          </p:cNvPr>
          <p:cNvSpPr txBox="1">
            <a:spLocks/>
          </p:cNvSpPr>
          <p:nvPr/>
        </p:nvSpPr>
        <p:spPr>
          <a:xfrm>
            <a:off x="837671"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accent4"/>
                </a:solidFill>
                <a:latin typeface="+mn-lt"/>
                <a:cs typeface="Arial" panose="020B0604020202020204" pitchFamily="34" charset="0"/>
              </a:rPr>
              <a:t>What are we going to cover today?</a:t>
            </a:r>
            <a:endParaRPr lang="en-GB" dirty="0">
              <a:solidFill>
                <a:schemeClr val="accent4"/>
              </a:solidFill>
              <a:latin typeface="+mn-lt"/>
              <a:cs typeface="Arial" panose="020B0604020202020204" pitchFamily="34" charset="0"/>
            </a:endParaRPr>
          </a:p>
        </p:txBody>
      </p:sp>
    </p:spTree>
    <p:extLst>
      <p:ext uri="{BB962C8B-B14F-4D97-AF65-F5344CB8AC3E}">
        <p14:creationId xmlns:p14="http://schemas.microsoft.com/office/powerpoint/2010/main" val="860541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7671" y="1464901"/>
            <a:ext cx="6193223" cy="5123792"/>
          </a:xfrm>
        </p:spPr>
        <p:txBody>
          <a:bodyPr>
            <a:normAutofit fontScale="25000" lnSpcReduction="20000"/>
          </a:bodyPr>
          <a:lstStyle/>
          <a:p>
            <a:pPr marL="0" indent="0">
              <a:buNone/>
            </a:pPr>
            <a:r>
              <a:rPr lang="en-GB" sz="5000" b="1" dirty="0"/>
              <a:t>Week 1 </a:t>
            </a:r>
          </a:p>
          <a:p>
            <a:r>
              <a:rPr lang="en-GB" sz="5000" dirty="0"/>
              <a:t>Introduction to the module </a:t>
            </a:r>
          </a:p>
          <a:p>
            <a:r>
              <a:rPr lang="en-GB" sz="5000" dirty="0"/>
              <a:t>What is the business environment?</a:t>
            </a:r>
          </a:p>
          <a:p>
            <a:r>
              <a:rPr lang="en-GB" sz="5000" dirty="0"/>
              <a:t>Introduction to Environmental analysis.</a:t>
            </a:r>
          </a:p>
          <a:p>
            <a:r>
              <a:rPr lang="en-GB" sz="5000" dirty="0"/>
              <a:t>What is an organisation and why do they exist?</a:t>
            </a:r>
          </a:p>
          <a:p>
            <a:r>
              <a:rPr lang="en-GB" sz="5000" dirty="0"/>
              <a:t>Organisational theories.</a:t>
            </a:r>
          </a:p>
          <a:p>
            <a:r>
              <a:rPr lang="en-GB" sz="5000" dirty="0"/>
              <a:t>Stakeholders</a:t>
            </a:r>
          </a:p>
          <a:p>
            <a:endParaRPr lang="en-GB" sz="5000" b="1" dirty="0"/>
          </a:p>
          <a:p>
            <a:pPr marL="0" indent="0">
              <a:buNone/>
            </a:pPr>
            <a:r>
              <a:rPr lang="en-GB" sz="5000" b="1" dirty="0"/>
              <a:t>Week 2</a:t>
            </a:r>
          </a:p>
          <a:p>
            <a:r>
              <a:rPr lang="en-GB" sz="5000" dirty="0"/>
              <a:t>The organisation, its people and culture.</a:t>
            </a:r>
          </a:p>
          <a:p>
            <a:r>
              <a:rPr lang="en-GB" sz="5000" dirty="0"/>
              <a:t>Size, Structure and concentration levels.</a:t>
            </a:r>
          </a:p>
          <a:p>
            <a:r>
              <a:rPr lang="en-GB" sz="5000" dirty="0"/>
              <a:t>Legal forms.</a:t>
            </a:r>
          </a:p>
          <a:p>
            <a:r>
              <a:rPr lang="en-GB" sz="5000" dirty="0"/>
              <a:t>Managing and financing an organisation.</a:t>
            </a:r>
          </a:p>
          <a:p>
            <a:endParaRPr lang="en-GB" sz="5000" b="1" dirty="0"/>
          </a:p>
          <a:p>
            <a:pPr marL="0" indent="0">
              <a:buNone/>
            </a:pPr>
            <a:r>
              <a:rPr lang="en-GB" sz="5000" b="1" dirty="0"/>
              <a:t>Week 3 </a:t>
            </a:r>
          </a:p>
          <a:p>
            <a:r>
              <a:rPr lang="en-GB" sz="5000" dirty="0"/>
              <a:t>Relationships and networks.</a:t>
            </a:r>
          </a:p>
          <a:p>
            <a:r>
              <a:rPr lang="en-GB" sz="5000" dirty="0"/>
              <a:t>Globalisation</a:t>
            </a:r>
          </a:p>
          <a:p>
            <a:r>
              <a:rPr lang="en-GB" sz="5000" dirty="0"/>
              <a:t>Assignment workshop!</a:t>
            </a:r>
          </a:p>
          <a:p>
            <a:endParaRPr lang="en-GB" sz="5000" dirty="0"/>
          </a:p>
          <a:p>
            <a:pPr marL="0" indent="0">
              <a:buNone/>
            </a:pPr>
            <a:r>
              <a:rPr lang="en-GB" sz="5000" b="1" dirty="0"/>
              <a:t> </a:t>
            </a:r>
          </a:p>
          <a:p>
            <a:endParaRPr lang="en-GB" sz="4800" dirty="0"/>
          </a:p>
          <a:p>
            <a:endParaRPr lang="en-GB" dirty="0"/>
          </a:p>
          <a:p>
            <a:pPr marL="0" indent="0">
              <a:buNone/>
            </a:pPr>
            <a:endParaRPr lang="en-GB" b="1" dirty="0"/>
          </a:p>
          <a:p>
            <a:pPr marL="0" indent="0">
              <a:buNone/>
            </a:pPr>
            <a:endParaRPr lang="en-GB" dirty="0"/>
          </a:p>
          <a:p>
            <a:pPr marL="0" indent="0">
              <a:buNone/>
            </a:pPr>
            <a:endParaRPr lang="en-GB" dirty="0"/>
          </a:p>
          <a:p>
            <a:pPr marL="0" indent="0">
              <a:buNone/>
            </a:pPr>
            <a:endParaRPr lang="en-GB" dirty="0"/>
          </a:p>
          <a:p>
            <a:endParaRPr lang="en-GB" b="1" dirty="0"/>
          </a:p>
          <a:p>
            <a:endParaRPr lang="en-GB" b="1" dirty="0"/>
          </a:p>
          <a:p>
            <a:endParaRPr lang="en-GB" dirty="0"/>
          </a:p>
          <a:p>
            <a:endParaRPr lang="en-GB" dirty="0"/>
          </a:p>
        </p:txBody>
      </p:sp>
      <p:sp>
        <p:nvSpPr>
          <p:cNvPr id="4" name="Content Placeholder 3"/>
          <p:cNvSpPr>
            <a:spLocks noGrp="1"/>
          </p:cNvSpPr>
          <p:nvPr>
            <p:ph sz="half" idx="2"/>
          </p:nvPr>
        </p:nvSpPr>
        <p:spPr>
          <a:xfrm>
            <a:off x="5872176" y="1437191"/>
            <a:ext cx="5242035" cy="4666593"/>
          </a:xfrm>
        </p:spPr>
        <p:txBody>
          <a:bodyPr>
            <a:normAutofit fontScale="25000" lnSpcReduction="20000"/>
          </a:bodyPr>
          <a:lstStyle/>
          <a:p>
            <a:pPr marL="0" indent="0">
              <a:buNone/>
            </a:pPr>
            <a:r>
              <a:rPr lang="en-GB" sz="5000" b="1" dirty="0"/>
              <a:t>Week 4</a:t>
            </a:r>
          </a:p>
          <a:p>
            <a:r>
              <a:rPr lang="en-GB" sz="5000" dirty="0"/>
              <a:t>Markets</a:t>
            </a:r>
          </a:p>
          <a:p>
            <a:r>
              <a:rPr lang="en-GB" sz="5000" dirty="0"/>
              <a:t>Supply and demand</a:t>
            </a:r>
          </a:p>
          <a:p>
            <a:r>
              <a:rPr lang="en-GB" sz="5000" dirty="0"/>
              <a:t>Industry ad market structures</a:t>
            </a:r>
          </a:p>
          <a:p>
            <a:r>
              <a:rPr lang="en-GB" sz="5000" dirty="0"/>
              <a:t>Political environment</a:t>
            </a:r>
          </a:p>
          <a:p>
            <a:pPr marL="0" indent="0">
              <a:buNone/>
            </a:pPr>
            <a:endParaRPr lang="en-GB" sz="5000" dirty="0"/>
          </a:p>
          <a:p>
            <a:pPr marL="0" indent="0">
              <a:buNone/>
            </a:pPr>
            <a:r>
              <a:rPr lang="en-GB" sz="5000" b="1" dirty="0"/>
              <a:t>Week 5</a:t>
            </a:r>
          </a:p>
          <a:p>
            <a:r>
              <a:rPr lang="en-GB" sz="5000" dirty="0"/>
              <a:t>Technological environment</a:t>
            </a:r>
          </a:p>
          <a:p>
            <a:r>
              <a:rPr lang="en-GB" sz="5000" dirty="0"/>
              <a:t>Ecological and social responsibilities</a:t>
            </a:r>
          </a:p>
          <a:p>
            <a:r>
              <a:rPr lang="en-GB" sz="5000" dirty="0"/>
              <a:t>Culture and society</a:t>
            </a:r>
          </a:p>
          <a:p>
            <a:pPr marL="0" indent="0">
              <a:buNone/>
            </a:pPr>
            <a:endParaRPr lang="en-GB" sz="5000" b="1" dirty="0"/>
          </a:p>
          <a:p>
            <a:pPr marL="0" indent="0">
              <a:buNone/>
            </a:pPr>
            <a:r>
              <a:rPr lang="en-GB" sz="5000" b="1" dirty="0"/>
              <a:t>Week 6</a:t>
            </a:r>
          </a:p>
          <a:p>
            <a:r>
              <a:rPr lang="en-GB" sz="5000" dirty="0"/>
              <a:t>Legal environment </a:t>
            </a:r>
          </a:p>
          <a:p>
            <a:r>
              <a:rPr lang="en-GB" sz="5000" dirty="0"/>
              <a:t>Whole module review.</a:t>
            </a:r>
          </a:p>
          <a:p>
            <a:r>
              <a:rPr lang="en-GB" sz="5000" dirty="0"/>
              <a:t>Assignment workshop</a:t>
            </a:r>
          </a:p>
          <a:p>
            <a:endParaRPr lang="en-GB" sz="5000" b="1" dirty="0"/>
          </a:p>
          <a:p>
            <a:endParaRPr lang="en-GB" dirty="0"/>
          </a:p>
          <a:p>
            <a:pPr marL="0" indent="0">
              <a:buNone/>
            </a:pPr>
            <a:endParaRPr lang="en-GB" dirty="0"/>
          </a:p>
        </p:txBody>
      </p:sp>
      <p:sp>
        <p:nvSpPr>
          <p:cNvPr id="5" name="Title 3">
            <a:extLst>
              <a:ext uri="{FF2B5EF4-FFF2-40B4-BE49-F238E27FC236}">
                <a16:creationId xmlns:a16="http://schemas.microsoft.com/office/drawing/2014/main" id="{2D6F2D56-A5D8-4C2C-9423-19A6F688E428}"/>
              </a:ext>
            </a:extLst>
          </p:cNvPr>
          <p:cNvSpPr txBox="1">
            <a:spLocks/>
          </p:cNvSpPr>
          <p:nvPr/>
        </p:nvSpPr>
        <p:spPr>
          <a:xfrm>
            <a:off x="837671" y="2038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accent4"/>
                </a:solidFill>
                <a:latin typeface="+mn-lt"/>
                <a:cs typeface="Arial" panose="020B0604020202020204" pitchFamily="34" charset="0"/>
              </a:rPr>
              <a:t>6 Week Plan</a:t>
            </a:r>
            <a:endParaRPr lang="en-GB" dirty="0">
              <a:solidFill>
                <a:schemeClr val="accent4"/>
              </a:solidFill>
              <a:latin typeface="+mn-lt"/>
              <a:cs typeface="Arial" panose="020B0604020202020204" pitchFamily="34" charset="0"/>
            </a:endParaRPr>
          </a:p>
        </p:txBody>
      </p:sp>
    </p:spTree>
    <p:extLst>
      <p:ext uri="{BB962C8B-B14F-4D97-AF65-F5344CB8AC3E}">
        <p14:creationId xmlns:p14="http://schemas.microsoft.com/office/powerpoint/2010/main" val="1632856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3DE7-78EF-D389-DD00-55ABCB11A165}"/>
              </a:ext>
            </a:extLst>
          </p:cNvPr>
          <p:cNvSpPr>
            <a:spLocks noGrp="1"/>
          </p:cNvSpPr>
          <p:nvPr>
            <p:ph type="title"/>
          </p:nvPr>
        </p:nvSpPr>
        <p:spPr/>
        <p:txBody>
          <a:bodyPr/>
          <a:lstStyle/>
          <a:p>
            <a:r>
              <a:rPr lang="en-GB" b="1" dirty="0">
                <a:solidFill>
                  <a:srgbClr val="FFC000"/>
                </a:solidFill>
              </a:rPr>
              <a:t>Learning Outcomes</a:t>
            </a:r>
          </a:p>
        </p:txBody>
      </p:sp>
      <p:sp>
        <p:nvSpPr>
          <p:cNvPr id="3" name="Content Placeholder 2">
            <a:extLst>
              <a:ext uri="{FF2B5EF4-FFF2-40B4-BE49-F238E27FC236}">
                <a16:creationId xmlns:a16="http://schemas.microsoft.com/office/drawing/2014/main" id="{54786B60-B7DE-6524-CAFA-1414440D1357}"/>
              </a:ext>
            </a:extLst>
          </p:cNvPr>
          <p:cNvSpPr>
            <a:spLocks noGrp="1"/>
          </p:cNvSpPr>
          <p:nvPr>
            <p:ph sz="half" idx="1"/>
          </p:nvPr>
        </p:nvSpPr>
        <p:spPr>
          <a:xfrm>
            <a:off x="838200" y="1825625"/>
            <a:ext cx="10515600" cy="4351338"/>
          </a:xfrm>
        </p:spPr>
        <p:txBody>
          <a:bodyPr>
            <a:normAutofit lnSpcReduction="10000"/>
          </a:bodyPr>
          <a:lstStyle/>
          <a:p>
            <a:pPr marL="342900" lvl="0" indent="-342900" fontAlgn="base">
              <a:lnSpc>
                <a:spcPct val="107000"/>
              </a:lnSpc>
              <a:spcAft>
                <a:spcPts val="800"/>
              </a:spcAft>
              <a:buClr>
                <a:srgbClr val="000000"/>
              </a:buClr>
              <a:buSzPts val="1200"/>
              <a:buFont typeface="+mj-lt"/>
              <a:buAutoNum type="arabicPeriod"/>
            </a:pPr>
            <a:r>
              <a:rPr lang="en-GB" sz="20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Explore the organisational types and purposes of businesses from a range of sectors.  </a:t>
            </a:r>
          </a:p>
          <a:p>
            <a:pPr marL="342900" lvl="0" indent="-342900" fontAlgn="base">
              <a:lnSpc>
                <a:spcPct val="107000"/>
              </a:lnSpc>
              <a:spcAft>
                <a:spcPts val="800"/>
              </a:spcAft>
              <a:buClr>
                <a:srgbClr val="000000"/>
              </a:buClr>
              <a:buSzPts val="1200"/>
              <a:buFont typeface="+mj-lt"/>
              <a:buAutoNum type="arabicPeriod"/>
            </a:pPr>
            <a:r>
              <a:rPr lang="en-GB" sz="20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Demonstrate an understanding of the nature of the environment that organisations operate in. </a:t>
            </a:r>
          </a:p>
          <a:p>
            <a:pPr marL="342900" lvl="0" indent="-342900" fontAlgn="base">
              <a:lnSpc>
                <a:spcPct val="107000"/>
              </a:lnSpc>
              <a:spcAft>
                <a:spcPts val="800"/>
              </a:spcAft>
              <a:buClr>
                <a:srgbClr val="000000"/>
              </a:buClr>
              <a:buSzPts val="1200"/>
              <a:buFont typeface="+mj-lt"/>
              <a:buAutoNum type="arabicPeriod"/>
            </a:pPr>
            <a:r>
              <a:rPr lang="en-GB" sz="20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Illustrate and explain the impact of environmental forces on organisations at a micro and macro level.  </a:t>
            </a:r>
          </a:p>
          <a:p>
            <a:pPr marL="342900" lvl="0" indent="-342900" fontAlgn="base">
              <a:lnSpc>
                <a:spcPct val="107000"/>
              </a:lnSpc>
              <a:spcAft>
                <a:spcPts val="800"/>
              </a:spcAft>
              <a:buClr>
                <a:srgbClr val="000000"/>
              </a:buClr>
              <a:buSzPts val="1200"/>
              <a:buFont typeface="+mj-lt"/>
              <a:buAutoNum type="arabicPeriod"/>
            </a:pPr>
            <a:r>
              <a:rPr lang="en-GB" sz="20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Assess the significance of impact of environmental forces at an organisation, market, sector or industry level.  </a:t>
            </a:r>
          </a:p>
          <a:p>
            <a:pPr marL="342900" lvl="0" indent="-342900" fontAlgn="base">
              <a:lnSpc>
                <a:spcPct val="107000"/>
              </a:lnSpc>
              <a:spcAft>
                <a:spcPts val="800"/>
              </a:spcAft>
              <a:buClr>
                <a:srgbClr val="000000"/>
              </a:buClr>
              <a:buSzPts val="1200"/>
              <a:buFont typeface="+mj-lt"/>
              <a:buAutoNum type="arabicPeriod"/>
            </a:pPr>
            <a:r>
              <a:rPr lang="en-GB" sz="20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Demonstrate an understanding of the requirements of a variety of stakeholders to a chosen organisation.  </a:t>
            </a:r>
          </a:p>
          <a:p>
            <a:pPr marL="342900" lvl="0" indent="-342900" fontAlgn="base">
              <a:lnSpc>
                <a:spcPct val="107000"/>
              </a:lnSpc>
              <a:spcAft>
                <a:spcPts val="800"/>
              </a:spcAft>
              <a:buClr>
                <a:srgbClr val="000000"/>
              </a:buClr>
              <a:buSzPts val="1200"/>
              <a:buFont typeface="+mj-lt"/>
              <a:buAutoNum type="arabicPeriod"/>
            </a:pPr>
            <a:r>
              <a:rPr lang="en-GB" sz="20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Measure and appraise the effectiveness of the responses of organisations to policy actions taken by key stakeholders. </a:t>
            </a:r>
          </a:p>
          <a:p>
            <a:pPr marL="0" indent="0">
              <a:buNone/>
            </a:pPr>
            <a:endParaRPr lang="en-GB" dirty="0"/>
          </a:p>
        </p:txBody>
      </p:sp>
    </p:spTree>
    <p:extLst>
      <p:ext uri="{BB962C8B-B14F-4D97-AF65-F5344CB8AC3E}">
        <p14:creationId xmlns:p14="http://schemas.microsoft.com/office/powerpoint/2010/main" val="639388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9467" y="1690255"/>
            <a:ext cx="10515600" cy="3191800"/>
          </a:xfrm>
        </p:spPr>
        <p:txBody>
          <a:bodyPr>
            <a:normAutofit/>
          </a:bodyPr>
          <a:lstStyle/>
          <a:p>
            <a:r>
              <a:rPr lang="en-GB" sz="2700" b="1" dirty="0">
                <a:solidFill>
                  <a:schemeClr val="accent4"/>
                </a:solidFill>
                <a:latin typeface="+mn-lt"/>
              </a:rPr>
              <a:t>Assignment 1</a:t>
            </a:r>
            <a:r>
              <a:rPr lang="en-GB" sz="2700" dirty="0">
                <a:solidFill>
                  <a:schemeClr val="accent4"/>
                </a:solidFill>
                <a:latin typeface="+mn-lt"/>
              </a:rPr>
              <a:t> </a:t>
            </a:r>
            <a:r>
              <a:rPr lang="en-GB" sz="2700" dirty="0">
                <a:latin typeface="+mn-lt"/>
              </a:rPr>
              <a:t>– 1,000 word report</a:t>
            </a:r>
            <a:br>
              <a:rPr lang="en-GB" sz="2700" dirty="0">
                <a:latin typeface="+mn-lt"/>
              </a:rPr>
            </a:br>
            <a:br>
              <a:rPr lang="en-GB" sz="2700" dirty="0">
                <a:latin typeface="+mn-lt"/>
              </a:rPr>
            </a:br>
            <a:r>
              <a:rPr lang="en-GB" sz="2700" dirty="0">
                <a:latin typeface="+mn-lt"/>
              </a:rPr>
              <a:t> </a:t>
            </a:r>
            <a:br>
              <a:rPr lang="en-GB" sz="2700" dirty="0">
                <a:latin typeface="+mn-lt"/>
              </a:rPr>
            </a:br>
            <a:br>
              <a:rPr lang="en-GB" sz="2700" dirty="0">
                <a:latin typeface="+mn-lt"/>
              </a:rPr>
            </a:br>
            <a:r>
              <a:rPr lang="en-GB" sz="2700" b="1" dirty="0">
                <a:solidFill>
                  <a:schemeClr val="accent4"/>
                </a:solidFill>
                <a:latin typeface="+mn-lt"/>
              </a:rPr>
              <a:t>Assignment 2 </a:t>
            </a:r>
            <a:r>
              <a:rPr lang="en-GB" sz="2700" dirty="0">
                <a:latin typeface="+mn-lt"/>
              </a:rPr>
              <a:t>– 2,000 word report </a:t>
            </a:r>
            <a:br>
              <a:rPr lang="en-GB" sz="3600" dirty="0"/>
            </a:br>
            <a:endParaRPr lang="en-GB" sz="3600" dirty="0"/>
          </a:p>
        </p:txBody>
      </p:sp>
      <p:sp>
        <p:nvSpPr>
          <p:cNvPr id="3" name="TextBox 2"/>
          <p:cNvSpPr txBox="1"/>
          <p:nvPr/>
        </p:nvSpPr>
        <p:spPr>
          <a:xfrm>
            <a:off x="7432486" y="1919724"/>
            <a:ext cx="3153103" cy="584775"/>
          </a:xfrm>
          <a:prstGeom prst="rect">
            <a:avLst/>
          </a:prstGeom>
          <a:ln/>
        </p:spPr>
        <p:style>
          <a:lnRef idx="3">
            <a:schemeClr val="lt1"/>
          </a:lnRef>
          <a:fillRef idx="1">
            <a:schemeClr val="accent4"/>
          </a:fillRef>
          <a:effectRef idx="1">
            <a:schemeClr val="accent4"/>
          </a:effectRef>
          <a:fontRef idx="minor">
            <a:schemeClr val="lt1"/>
          </a:fontRef>
        </p:style>
        <p:txBody>
          <a:bodyPr wrap="square" rtlCol="0">
            <a:spAutoFit/>
          </a:bodyPr>
          <a:lstStyle/>
          <a:p>
            <a:pPr algn="ctr"/>
            <a:r>
              <a:rPr lang="en-GB" sz="3200" dirty="0"/>
              <a:t>31/01/2025 7pm</a:t>
            </a:r>
          </a:p>
        </p:txBody>
      </p:sp>
      <p:sp>
        <p:nvSpPr>
          <p:cNvPr id="5" name="TextBox 4"/>
          <p:cNvSpPr txBox="1"/>
          <p:nvPr/>
        </p:nvSpPr>
        <p:spPr>
          <a:xfrm>
            <a:off x="7432486" y="3402304"/>
            <a:ext cx="3153103" cy="584775"/>
          </a:xfrm>
          <a:prstGeom prst="rect">
            <a:avLst/>
          </a:prstGeom>
          <a:ln/>
        </p:spPr>
        <p:style>
          <a:lnRef idx="3">
            <a:schemeClr val="lt1"/>
          </a:lnRef>
          <a:fillRef idx="1">
            <a:schemeClr val="accent4"/>
          </a:fillRef>
          <a:effectRef idx="1">
            <a:schemeClr val="accent4"/>
          </a:effectRef>
          <a:fontRef idx="minor">
            <a:schemeClr val="lt1"/>
          </a:fontRef>
        </p:style>
        <p:txBody>
          <a:bodyPr wrap="square" rtlCol="0">
            <a:spAutoFit/>
          </a:bodyPr>
          <a:lstStyle/>
          <a:p>
            <a:pPr algn="ctr"/>
            <a:r>
              <a:rPr lang="en-GB" sz="3200" dirty="0"/>
              <a:t>21/02/2025 7pm </a:t>
            </a:r>
          </a:p>
        </p:txBody>
      </p:sp>
      <p:sp>
        <p:nvSpPr>
          <p:cNvPr id="6" name="Title 3">
            <a:extLst>
              <a:ext uri="{FF2B5EF4-FFF2-40B4-BE49-F238E27FC236}">
                <a16:creationId xmlns:a16="http://schemas.microsoft.com/office/drawing/2014/main" id="{2D6F2D56-A5D8-4C2C-9423-19A6F688E428}"/>
              </a:ext>
            </a:extLst>
          </p:cNvPr>
          <p:cNvSpPr txBox="1">
            <a:spLocks/>
          </p:cNvSpPr>
          <p:nvPr/>
        </p:nvSpPr>
        <p:spPr>
          <a:xfrm>
            <a:off x="837671"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accent4"/>
                </a:solidFill>
                <a:latin typeface="+mn-lt"/>
                <a:cs typeface="Arial" panose="020B0604020202020204" pitchFamily="34" charset="0"/>
              </a:rPr>
              <a:t>Assignments</a:t>
            </a:r>
            <a:endParaRPr lang="en-GB" dirty="0">
              <a:solidFill>
                <a:schemeClr val="accent4"/>
              </a:solidFill>
              <a:latin typeface="+mn-lt"/>
              <a:cs typeface="Arial" panose="020B0604020202020204" pitchFamily="34" charset="0"/>
            </a:endParaRPr>
          </a:p>
        </p:txBody>
      </p:sp>
    </p:spTree>
    <p:extLst>
      <p:ext uri="{BB962C8B-B14F-4D97-AF65-F5344CB8AC3E}">
        <p14:creationId xmlns:p14="http://schemas.microsoft.com/office/powerpoint/2010/main" val="3870878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0FF03-EF66-90AD-4BEC-6E47FD9AD1C9}"/>
              </a:ext>
            </a:extLst>
          </p:cNvPr>
          <p:cNvSpPr>
            <a:spLocks noGrp="1"/>
          </p:cNvSpPr>
          <p:nvPr>
            <p:ph type="title"/>
          </p:nvPr>
        </p:nvSpPr>
        <p:spPr/>
        <p:txBody>
          <a:bodyPr/>
          <a:lstStyle/>
          <a:p>
            <a:r>
              <a:rPr lang="en-GB" b="1" dirty="0">
                <a:solidFill>
                  <a:srgbClr val="FFC000"/>
                </a:solidFill>
              </a:rPr>
              <a:t>Assignment 1</a:t>
            </a:r>
          </a:p>
        </p:txBody>
      </p:sp>
      <p:pic>
        <p:nvPicPr>
          <p:cNvPr id="4" name="Obraz 3">
            <a:extLst>
              <a:ext uri="{FF2B5EF4-FFF2-40B4-BE49-F238E27FC236}">
                <a16:creationId xmlns:a16="http://schemas.microsoft.com/office/drawing/2014/main" id="{04ADE443-D0A8-3A03-667D-19D09EE63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645" y="2333987"/>
            <a:ext cx="10302710" cy="2021490"/>
          </a:xfrm>
          <a:prstGeom prst="rect">
            <a:avLst/>
          </a:prstGeom>
        </p:spPr>
      </p:pic>
    </p:spTree>
    <p:extLst>
      <p:ext uri="{BB962C8B-B14F-4D97-AF65-F5344CB8AC3E}">
        <p14:creationId xmlns:p14="http://schemas.microsoft.com/office/powerpoint/2010/main" val="2639191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0FF03-EF66-90AD-4BEC-6E47FD9AD1C9}"/>
              </a:ext>
            </a:extLst>
          </p:cNvPr>
          <p:cNvSpPr>
            <a:spLocks noGrp="1"/>
          </p:cNvSpPr>
          <p:nvPr>
            <p:ph type="title"/>
          </p:nvPr>
        </p:nvSpPr>
        <p:spPr/>
        <p:txBody>
          <a:bodyPr/>
          <a:lstStyle/>
          <a:p>
            <a:r>
              <a:rPr lang="en-GB" b="1" dirty="0">
                <a:solidFill>
                  <a:srgbClr val="FFC000"/>
                </a:solidFill>
              </a:rPr>
              <a:t>Assignment 1</a:t>
            </a:r>
          </a:p>
        </p:txBody>
      </p:sp>
      <p:pic>
        <p:nvPicPr>
          <p:cNvPr id="5" name="Obraz 4">
            <a:extLst>
              <a:ext uri="{FF2B5EF4-FFF2-40B4-BE49-F238E27FC236}">
                <a16:creationId xmlns:a16="http://schemas.microsoft.com/office/drawing/2014/main" id="{4FE1AD42-F916-ABAF-A5CE-5CC8576CE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5777" y="1463426"/>
            <a:ext cx="8900446" cy="4331893"/>
          </a:xfrm>
          <a:prstGeom prst="rect">
            <a:avLst/>
          </a:prstGeom>
        </p:spPr>
      </p:pic>
    </p:spTree>
    <p:extLst>
      <p:ext uri="{BB962C8B-B14F-4D97-AF65-F5344CB8AC3E}">
        <p14:creationId xmlns:p14="http://schemas.microsoft.com/office/powerpoint/2010/main" val="2251516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3DE7-78EF-D389-DD00-55ABCB11A165}"/>
              </a:ext>
            </a:extLst>
          </p:cNvPr>
          <p:cNvSpPr>
            <a:spLocks noGrp="1"/>
          </p:cNvSpPr>
          <p:nvPr>
            <p:ph type="title"/>
          </p:nvPr>
        </p:nvSpPr>
        <p:spPr/>
        <p:txBody>
          <a:bodyPr/>
          <a:lstStyle/>
          <a:p>
            <a:r>
              <a:rPr lang="en-GB" b="1" dirty="0">
                <a:solidFill>
                  <a:srgbClr val="FFC000"/>
                </a:solidFill>
              </a:rPr>
              <a:t>Learning Outcomes</a:t>
            </a:r>
          </a:p>
        </p:txBody>
      </p:sp>
      <p:sp>
        <p:nvSpPr>
          <p:cNvPr id="3" name="Content Placeholder 2">
            <a:extLst>
              <a:ext uri="{FF2B5EF4-FFF2-40B4-BE49-F238E27FC236}">
                <a16:creationId xmlns:a16="http://schemas.microsoft.com/office/drawing/2014/main" id="{54786B60-B7DE-6524-CAFA-1414440D1357}"/>
              </a:ext>
            </a:extLst>
          </p:cNvPr>
          <p:cNvSpPr>
            <a:spLocks noGrp="1"/>
          </p:cNvSpPr>
          <p:nvPr>
            <p:ph sz="half" idx="1"/>
          </p:nvPr>
        </p:nvSpPr>
        <p:spPr>
          <a:xfrm>
            <a:off x="838200" y="1825625"/>
            <a:ext cx="10515600" cy="4351338"/>
          </a:xfrm>
        </p:spPr>
        <p:txBody>
          <a:bodyPr>
            <a:normAutofit lnSpcReduction="10000"/>
          </a:bodyPr>
          <a:lstStyle/>
          <a:p>
            <a:pPr marL="342900" lvl="0" indent="-342900" fontAlgn="base">
              <a:lnSpc>
                <a:spcPct val="107000"/>
              </a:lnSpc>
              <a:spcAft>
                <a:spcPts val="800"/>
              </a:spcAft>
              <a:buClr>
                <a:srgbClr val="000000"/>
              </a:buClr>
              <a:buSzPts val="1200"/>
              <a:buFont typeface="+mj-lt"/>
              <a:buAutoNum type="arabicPeriod"/>
            </a:pPr>
            <a:r>
              <a:rPr lang="en-GB" sz="2000" u="none" strike="noStrike" dirty="0">
                <a:solidFill>
                  <a:srgbClr val="000000"/>
                </a:solidFill>
                <a:effectLst/>
                <a:highlight>
                  <a:srgbClr val="FFFF00"/>
                </a:highlight>
                <a:uFill>
                  <a:solidFill>
                    <a:srgbClr val="000000"/>
                  </a:solidFill>
                </a:uFill>
                <a:latin typeface="Calibri" panose="020F0502020204030204" pitchFamily="34" charset="0"/>
                <a:ea typeface="Calibri" panose="020F0502020204030204" pitchFamily="34" charset="0"/>
                <a:cs typeface="Calibri" panose="020F0502020204030204" pitchFamily="34" charset="0"/>
              </a:rPr>
              <a:t>Explore the organisational types and purposes of businesses from a range of sectors.  </a:t>
            </a:r>
          </a:p>
          <a:p>
            <a:pPr marL="342900" lvl="0" indent="-342900" fontAlgn="base">
              <a:lnSpc>
                <a:spcPct val="107000"/>
              </a:lnSpc>
              <a:spcAft>
                <a:spcPts val="800"/>
              </a:spcAft>
              <a:buClr>
                <a:srgbClr val="000000"/>
              </a:buClr>
              <a:buSzPts val="1200"/>
              <a:buFont typeface="+mj-lt"/>
              <a:buAutoNum type="arabicPeriod"/>
            </a:pPr>
            <a:r>
              <a:rPr lang="en-GB" sz="2000" u="none" strike="sng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Demonstrate an understanding of the nature of the environment that organisations operate in. </a:t>
            </a:r>
          </a:p>
          <a:p>
            <a:pPr marL="342900" lvl="0" indent="-342900" fontAlgn="base">
              <a:lnSpc>
                <a:spcPct val="107000"/>
              </a:lnSpc>
              <a:spcAft>
                <a:spcPts val="800"/>
              </a:spcAft>
              <a:buClr>
                <a:srgbClr val="000000"/>
              </a:buClr>
              <a:buSzPts val="1200"/>
              <a:buFont typeface="+mj-lt"/>
              <a:buAutoNum type="arabicPeriod"/>
            </a:pPr>
            <a:r>
              <a:rPr lang="en-GB" sz="2000" u="none" strike="sng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Illustrate and explain the impact of environmental forces on organisations at a micro and macro level.  </a:t>
            </a:r>
          </a:p>
          <a:p>
            <a:pPr marL="342900" lvl="0" indent="-342900" fontAlgn="base">
              <a:lnSpc>
                <a:spcPct val="107000"/>
              </a:lnSpc>
              <a:spcAft>
                <a:spcPts val="800"/>
              </a:spcAft>
              <a:buClr>
                <a:srgbClr val="000000"/>
              </a:buClr>
              <a:buSzPts val="1200"/>
              <a:buFont typeface="+mj-lt"/>
              <a:buAutoNum type="arabicPeriod"/>
            </a:pPr>
            <a:r>
              <a:rPr lang="en-GB" sz="2000" u="none" strike="sng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Assess the significance of impact of environmental forces at an organisation, market, sector or industry level.  </a:t>
            </a:r>
          </a:p>
          <a:p>
            <a:pPr marL="342900" lvl="0" indent="-342900" fontAlgn="base">
              <a:lnSpc>
                <a:spcPct val="107000"/>
              </a:lnSpc>
              <a:spcAft>
                <a:spcPts val="800"/>
              </a:spcAft>
              <a:buClr>
                <a:srgbClr val="000000"/>
              </a:buClr>
              <a:buSzPts val="1200"/>
              <a:buFont typeface="+mj-lt"/>
              <a:buAutoNum type="arabicPeriod"/>
            </a:pPr>
            <a:r>
              <a:rPr lang="en-GB" sz="2000" u="none" strike="noStrike" dirty="0">
                <a:solidFill>
                  <a:srgbClr val="000000"/>
                </a:solidFill>
                <a:effectLst/>
                <a:highlight>
                  <a:srgbClr val="FFFF00"/>
                </a:highlight>
                <a:uFill>
                  <a:solidFill>
                    <a:srgbClr val="000000"/>
                  </a:solidFill>
                </a:uFill>
                <a:latin typeface="Calibri" panose="020F0502020204030204" pitchFamily="34" charset="0"/>
                <a:ea typeface="Calibri" panose="020F0502020204030204" pitchFamily="34" charset="0"/>
                <a:cs typeface="Calibri" panose="020F0502020204030204" pitchFamily="34" charset="0"/>
              </a:rPr>
              <a:t>Demonstrate an understanding of the requirements of a variety of stakeholders to a chosen organisation.  </a:t>
            </a:r>
          </a:p>
          <a:p>
            <a:pPr marL="342900" lvl="0" indent="-342900" fontAlgn="base">
              <a:lnSpc>
                <a:spcPct val="107000"/>
              </a:lnSpc>
              <a:spcAft>
                <a:spcPts val="800"/>
              </a:spcAft>
              <a:buClr>
                <a:srgbClr val="000000"/>
              </a:buClr>
              <a:buSzPts val="1200"/>
              <a:buFont typeface="+mj-lt"/>
              <a:buAutoNum type="arabicPeriod"/>
            </a:pPr>
            <a:r>
              <a:rPr lang="en-GB" sz="2000" u="none" strike="sng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Measure and appraise the effectiveness of the responses of organisations to policy actions taken by key stakeholders. </a:t>
            </a:r>
          </a:p>
          <a:p>
            <a:pPr marL="0" indent="0">
              <a:buNone/>
            </a:pPr>
            <a:endParaRPr lang="en-GB" dirty="0"/>
          </a:p>
        </p:txBody>
      </p:sp>
    </p:spTree>
    <p:extLst>
      <p:ext uri="{BB962C8B-B14F-4D97-AF65-F5344CB8AC3E}">
        <p14:creationId xmlns:p14="http://schemas.microsoft.com/office/powerpoint/2010/main" val="1489626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527" y="365123"/>
            <a:ext cx="10515600" cy="1325563"/>
          </a:xfrm>
        </p:spPr>
        <p:txBody>
          <a:bodyPr/>
          <a:lstStyle/>
          <a:p>
            <a:r>
              <a:rPr lang="en-GB" b="1" dirty="0">
                <a:solidFill>
                  <a:schemeClr val="accent4"/>
                </a:solidFill>
                <a:latin typeface="+mn-lt"/>
              </a:rPr>
              <a:t>Essential Reading </a:t>
            </a:r>
          </a:p>
        </p:txBody>
      </p:sp>
      <p:sp>
        <p:nvSpPr>
          <p:cNvPr id="3" name="Content Placeholder 2"/>
          <p:cNvSpPr>
            <a:spLocks noGrp="1"/>
          </p:cNvSpPr>
          <p:nvPr>
            <p:ph sz="half" idx="1"/>
          </p:nvPr>
        </p:nvSpPr>
        <p:spPr>
          <a:xfrm>
            <a:off x="428296" y="1837215"/>
            <a:ext cx="7549055" cy="4351338"/>
          </a:xfrm>
        </p:spPr>
        <p:txBody>
          <a:bodyPr>
            <a:normAutofit/>
          </a:bodyPr>
          <a:lstStyle/>
          <a:p>
            <a:r>
              <a:rPr lang="en-GB" dirty="0">
                <a:hlinkClick r:id="rId2"/>
              </a:rPr>
              <a:t>https://cug-coventry.aula.education/#/dashboard/ba48cbdd-b378-4da4-ad6f-39920d9778d8/journey/materials/947295c3-e14d-421c-b465-0a6e9604f0cd</a:t>
            </a:r>
            <a:r>
              <a:rPr lang="en-GB" dirty="0"/>
              <a:t> </a:t>
            </a:r>
          </a:p>
          <a:p>
            <a:endParaRPr lang="en-GB" dirty="0"/>
          </a:p>
          <a:p>
            <a:r>
              <a:rPr lang="en-GB" dirty="0"/>
              <a:t>AULA – Reading Lists</a:t>
            </a:r>
          </a:p>
          <a:p>
            <a:r>
              <a:rPr lang="en-GB" dirty="0" err="1"/>
              <a:t>BibliU</a:t>
            </a:r>
            <a:r>
              <a:rPr lang="en-GB" dirty="0"/>
              <a:t> – online access to the books</a:t>
            </a:r>
          </a:p>
          <a:p>
            <a:endParaRPr lang="en-GB" dirty="0"/>
          </a:p>
        </p:txBody>
      </p:sp>
      <p:pic>
        <p:nvPicPr>
          <p:cNvPr id="4" name="Picture 3"/>
          <p:cNvPicPr>
            <a:picLocks noChangeAspect="1"/>
          </p:cNvPicPr>
          <p:nvPr/>
        </p:nvPicPr>
        <p:blipFill>
          <a:blip r:embed="rId3"/>
          <a:stretch>
            <a:fillRect/>
          </a:stretch>
        </p:blipFill>
        <p:spPr>
          <a:xfrm>
            <a:off x="7790584" y="365123"/>
            <a:ext cx="4286250" cy="5505450"/>
          </a:xfrm>
          <a:prstGeom prst="rect">
            <a:avLst/>
          </a:prstGeom>
        </p:spPr>
      </p:pic>
    </p:spTree>
    <p:extLst>
      <p:ext uri="{BB962C8B-B14F-4D97-AF65-F5344CB8AC3E}">
        <p14:creationId xmlns:p14="http://schemas.microsoft.com/office/powerpoint/2010/main" val="3065262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D805E-4ECE-B6D6-F8C9-01E6B06E7C00}"/>
              </a:ext>
            </a:extLst>
          </p:cNvPr>
          <p:cNvSpPr>
            <a:spLocks noGrp="1"/>
          </p:cNvSpPr>
          <p:nvPr>
            <p:ph type="title"/>
          </p:nvPr>
        </p:nvSpPr>
        <p:spPr/>
        <p:txBody>
          <a:bodyPr/>
          <a:lstStyle/>
          <a:p>
            <a:pPr algn="ctr"/>
            <a:r>
              <a:rPr lang="en-GB" b="1" dirty="0">
                <a:solidFill>
                  <a:srgbClr val="FFC000"/>
                </a:solidFill>
              </a:rPr>
              <a:t>Break</a:t>
            </a:r>
          </a:p>
        </p:txBody>
      </p:sp>
      <p:sp>
        <p:nvSpPr>
          <p:cNvPr id="3" name="Content Placeholder 2">
            <a:extLst>
              <a:ext uri="{FF2B5EF4-FFF2-40B4-BE49-F238E27FC236}">
                <a16:creationId xmlns:a16="http://schemas.microsoft.com/office/drawing/2014/main" id="{5B858932-3E65-9E20-6BF7-45DF000596B3}"/>
              </a:ext>
            </a:extLst>
          </p:cNvPr>
          <p:cNvSpPr>
            <a:spLocks noGrp="1"/>
          </p:cNvSpPr>
          <p:nvPr>
            <p:ph sz="half" idx="1"/>
          </p:nvPr>
        </p:nvSpPr>
        <p:spPr>
          <a:xfrm>
            <a:off x="838200" y="1825625"/>
            <a:ext cx="10515600" cy="4351338"/>
          </a:xfrm>
        </p:spPr>
        <p:txBody>
          <a:bodyPr/>
          <a:lstStyle/>
          <a:p>
            <a:pPr marL="0" indent="0">
              <a:buNone/>
            </a:pPr>
            <a:r>
              <a:rPr lang="en-GB" dirty="0"/>
              <a:t>20 Minutes</a:t>
            </a:r>
          </a:p>
          <a:p>
            <a:pPr marL="0" indent="0">
              <a:buNone/>
            </a:pPr>
            <a:endParaRPr lang="en-GB" dirty="0"/>
          </a:p>
          <a:p>
            <a:pPr marL="0" indent="0" algn="ctr">
              <a:buNone/>
            </a:pPr>
            <a:r>
              <a:rPr lang="en-GB" sz="3200" b="1" dirty="0"/>
              <a:t>“What do we mean by .. The Business Environment?”</a:t>
            </a:r>
          </a:p>
        </p:txBody>
      </p:sp>
    </p:spTree>
    <p:extLst>
      <p:ext uri="{BB962C8B-B14F-4D97-AF65-F5344CB8AC3E}">
        <p14:creationId xmlns:p14="http://schemas.microsoft.com/office/powerpoint/2010/main" val="1693777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usy day predicted on London's high streets | London - ITV News">
            <a:extLst>
              <a:ext uri="{FF2B5EF4-FFF2-40B4-BE49-F238E27FC236}">
                <a16:creationId xmlns:a16="http://schemas.microsoft.com/office/drawing/2014/main" id="{311F680C-50E7-B214-330C-212743CD2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62547" y="2743200"/>
            <a:ext cx="9448798" cy="1015663"/>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r>
              <a:rPr lang="en-GB" sz="6000" dirty="0"/>
              <a:t>The Business Environment?</a:t>
            </a:r>
          </a:p>
        </p:txBody>
      </p:sp>
      <p:sp>
        <p:nvSpPr>
          <p:cNvPr id="4" name="Title 3">
            <a:extLst>
              <a:ext uri="{FF2B5EF4-FFF2-40B4-BE49-F238E27FC236}">
                <a16:creationId xmlns:a16="http://schemas.microsoft.com/office/drawing/2014/main" id="{2D6F2D56-A5D8-4C2C-9423-19A6F688E428}"/>
              </a:ext>
            </a:extLst>
          </p:cNvPr>
          <p:cNvSpPr txBox="1">
            <a:spLocks/>
          </p:cNvSpPr>
          <p:nvPr/>
        </p:nvSpPr>
        <p:spPr>
          <a:xfrm>
            <a:off x="837671"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accent4"/>
                </a:solidFill>
                <a:latin typeface="+mn-lt"/>
                <a:cs typeface="Arial" panose="020B0604020202020204" pitchFamily="34" charset="0"/>
              </a:rPr>
              <a:t>What do we mean by…</a:t>
            </a:r>
            <a:endParaRPr lang="en-GB" dirty="0">
              <a:solidFill>
                <a:schemeClr val="accent4"/>
              </a:solidFill>
              <a:latin typeface="+mn-lt"/>
              <a:cs typeface="Arial" panose="020B0604020202020204" pitchFamily="34" charset="0"/>
            </a:endParaRPr>
          </a:p>
        </p:txBody>
      </p:sp>
    </p:spTree>
    <p:extLst>
      <p:ext uri="{BB962C8B-B14F-4D97-AF65-F5344CB8AC3E}">
        <p14:creationId xmlns:p14="http://schemas.microsoft.com/office/powerpoint/2010/main" val="2708405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4344" y="1534679"/>
            <a:ext cx="10577945" cy="4351338"/>
          </a:xfrm>
        </p:spPr>
        <p:txBody>
          <a:bodyPr>
            <a:normAutofit/>
          </a:bodyPr>
          <a:lstStyle/>
          <a:p>
            <a:pPr marL="0" indent="0">
              <a:buNone/>
            </a:pPr>
            <a:r>
              <a:rPr lang="en-GB" sz="2400" b="1" dirty="0">
                <a:solidFill>
                  <a:schemeClr val="accent4"/>
                </a:solidFill>
              </a:rPr>
              <a:t>Business</a:t>
            </a:r>
            <a:r>
              <a:rPr lang="en-GB" sz="2400" dirty="0">
                <a:solidFill>
                  <a:schemeClr val="accent4"/>
                </a:solidFill>
              </a:rPr>
              <a:t> </a:t>
            </a:r>
            <a:r>
              <a:rPr lang="en-GB" sz="2400" b="1" dirty="0">
                <a:solidFill>
                  <a:schemeClr val="accent4"/>
                </a:solidFill>
              </a:rPr>
              <a:t>Environment</a:t>
            </a:r>
            <a:r>
              <a:rPr lang="en-GB" sz="2400" dirty="0">
                <a:solidFill>
                  <a:schemeClr val="accent4"/>
                </a:solidFill>
              </a:rPr>
              <a:t> </a:t>
            </a:r>
            <a:r>
              <a:rPr lang="en-GB" sz="2400" dirty="0"/>
              <a:t>means a collection of all individuals, entities and other factors, both internal and external, which may or may not be under the control of the organisation, but can affect its performance, profitability, growth and even survival.</a:t>
            </a:r>
          </a:p>
          <a:p>
            <a:pPr marL="0" indent="0">
              <a:buNone/>
            </a:pPr>
            <a:r>
              <a:rPr lang="en-GB" sz="2400" dirty="0"/>
              <a:t>Every</a:t>
            </a:r>
            <a:r>
              <a:rPr lang="en-GB" sz="2400" dirty="0">
                <a:solidFill>
                  <a:schemeClr val="accent4"/>
                </a:solidFill>
              </a:rPr>
              <a:t> </a:t>
            </a:r>
            <a:r>
              <a:rPr lang="en-GB" sz="2400" b="1" dirty="0">
                <a:solidFill>
                  <a:schemeClr val="accent4"/>
                </a:solidFill>
              </a:rPr>
              <a:t>business</a:t>
            </a:r>
            <a:r>
              <a:rPr lang="en-GB" sz="2400" dirty="0">
                <a:solidFill>
                  <a:schemeClr val="accent4"/>
                </a:solidFill>
              </a:rPr>
              <a:t> </a:t>
            </a:r>
            <a:r>
              <a:rPr lang="en-GB" sz="2400" dirty="0"/>
              <a:t>organisation operates in a distinctive </a:t>
            </a:r>
            <a:r>
              <a:rPr lang="en-GB" sz="2400" b="1" dirty="0">
                <a:solidFill>
                  <a:schemeClr val="accent4"/>
                </a:solidFill>
              </a:rPr>
              <a:t>environment</a:t>
            </a:r>
            <a:r>
              <a:rPr lang="en-GB" sz="2400" dirty="0"/>
              <a:t>.</a:t>
            </a:r>
          </a:p>
          <a:p>
            <a:pPr marL="0" indent="0">
              <a:buNone/>
            </a:pPr>
            <a:endParaRPr lang="en-GB" sz="2400" dirty="0"/>
          </a:p>
          <a:p>
            <a:pPr marL="0" indent="0">
              <a:buNone/>
            </a:pPr>
            <a:endParaRPr lang="en-GB" sz="2400" dirty="0"/>
          </a:p>
          <a:p>
            <a:pPr marL="0" indent="0">
              <a:buNone/>
            </a:pPr>
            <a:endParaRPr lang="en-GB" sz="2400" dirty="0"/>
          </a:p>
          <a:p>
            <a:pPr marL="0" indent="0">
              <a:buNone/>
            </a:pPr>
            <a:r>
              <a:rPr lang="en-GB" sz="1600" b="0" i="0" dirty="0">
                <a:solidFill>
                  <a:srgbClr val="222222"/>
                </a:solidFill>
                <a:effectLst/>
                <a:latin typeface="Arial" panose="020B0604020202020204" pitchFamily="34" charset="0"/>
              </a:rPr>
              <a:t>Worthington, I., &amp; Britton, C. (2018). </a:t>
            </a:r>
            <a:r>
              <a:rPr lang="en-GB" sz="1600" b="0" i="1" dirty="0">
                <a:solidFill>
                  <a:srgbClr val="222222"/>
                </a:solidFill>
                <a:effectLst/>
                <a:latin typeface="Arial" panose="020B0604020202020204" pitchFamily="34" charset="0"/>
              </a:rPr>
              <a:t>The business environment</a:t>
            </a:r>
            <a:r>
              <a:rPr lang="en-GB" sz="1600" b="0" i="0" dirty="0">
                <a:solidFill>
                  <a:srgbClr val="222222"/>
                </a:solidFill>
                <a:effectLst/>
                <a:latin typeface="Arial" panose="020B0604020202020204" pitchFamily="34" charset="0"/>
              </a:rPr>
              <a:t>. Pearson education.</a:t>
            </a:r>
            <a:endParaRPr lang="en-GB" sz="2400" dirty="0"/>
          </a:p>
        </p:txBody>
      </p:sp>
    </p:spTree>
    <p:extLst>
      <p:ext uri="{BB962C8B-B14F-4D97-AF65-F5344CB8AC3E}">
        <p14:creationId xmlns:p14="http://schemas.microsoft.com/office/powerpoint/2010/main" val="878984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D6F2D56-A5D8-4C2C-9423-19A6F688E428}"/>
              </a:ext>
            </a:extLst>
          </p:cNvPr>
          <p:cNvSpPr txBox="1">
            <a:spLocks/>
          </p:cNvSpPr>
          <p:nvPr/>
        </p:nvSpPr>
        <p:spPr>
          <a:xfrm>
            <a:off x="889434" y="548842"/>
            <a:ext cx="9144000" cy="1120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accent4"/>
                </a:solidFill>
                <a:latin typeface="+mn-lt"/>
                <a:cs typeface="Arial" panose="020B0604020202020204" pitchFamily="34" charset="0"/>
              </a:rPr>
              <a:t>So what is the Environment?...</a:t>
            </a:r>
            <a:endParaRPr lang="en-GB" dirty="0">
              <a:solidFill>
                <a:schemeClr val="accent4"/>
              </a:solidFill>
              <a:latin typeface="+mn-lt"/>
              <a:cs typeface="Arial" panose="020B0604020202020204" pitchFamily="34" charset="0"/>
            </a:endParaRPr>
          </a:p>
        </p:txBody>
      </p:sp>
      <p:pic>
        <p:nvPicPr>
          <p:cNvPr id="6" name="Picture 5"/>
          <p:cNvPicPr>
            <a:picLocks noChangeAspect="1"/>
          </p:cNvPicPr>
          <p:nvPr/>
        </p:nvPicPr>
        <p:blipFill>
          <a:blip r:embed="rId2"/>
          <a:stretch>
            <a:fillRect/>
          </a:stretch>
        </p:blipFill>
        <p:spPr>
          <a:xfrm>
            <a:off x="2272146" y="1413164"/>
            <a:ext cx="7345110" cy="4726328"/>
          </a:xfrm>
          <a:prstGeom prst="rect">
            <a:avLst/>
          </a:prstGeom>
        </p:spPr>
      </p:pic>
    </p:spTree>
    <p:extLst>
      <p:ext uri="{BB962C8B-B14F-4D97-AF65-F5344CB8AC3E}">
        <p14:creationId xmlns:p14="http://schemas.microsoft.com/office/powerpoint/2010/main" val="4161727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p:cNvSpPr txBox="1">
            <a:spLocks/>
          </p:cNvSpPr>
          <p:nvPr/>
        </p:nvSpPr>
        <p:spPr>
          <a:xfrm>
            <a:off x="976744" y="2034356"/>
            <a:ext cx="10515600" cy="30502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en-US" sz="2600" dirty="0"/>
              <a:t>Political</a:t>
            </a:r>
          </a:p>
          <a:p>
            <a:r>
              <a:rPr lang="en-GB" altLang="en-US" sz="2600" dirty="0"/>
              <a:t>Economic</a:t>
            </a:r>
          </a:p>
          <a:p>
            <a:r>
              <a:rPr lang="en-GB" altLang="en-US" sz="2600" dirty="0"/>
              <a:t>Social</a:t>
            </a:r>
          </a:p>
          <a:p>
            <a:r>
              <a:rPr lang="en-GB" altLang="en-US" sz="2600" dirty="0"/>
              <a:t>Technological</a:t>
            </a:r>
          </a:p>
          <a:p>
            <a:r>
              <a:rPr lang="en-GB" altLang="en-US" sz="2600" dirty="0"/>
              <a:t>Environmental</a:t>
            </a:r>
          </a:p>
          <a:p>
            <a:r>
              <a:rPr lang="en-GB" altLang="en-US" sz="2600" dirty="0"/>
              <a:t>Legal</a:t>
            </a:r>
          </a:p>
          <a:p>
            <a:endParaRPr lang="en-GB" altLang="en-US" sz="24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7554" y="1452464"/>
            <a:ext cx="7133445" cy="4028298"/>
          </a:xfrm>
          <a:prstGeom prst="rect">
            <a:avLst/>
          </a:prstGeom>
        </p:spPr>
      </p:pic>
      <p:sp>
        <p:nvSpPr>
          <p:cNvPr id="8" name="Rectangle 7"/>
          <p:cNvSpPr/>
          <p:nvPr/>
        </p:nvSpPr>
        <p:spPr>
          <a:xfrm>
            <a:off x="6339597" y="5309502"/>
            <a:ext cx="5374420" cy="369332"/>
          </a:xfrm>
          <a:prstGeom prst="rect">
            <a:avLst/>
          </a:prstGeom>
        </p:spPr>
        <p:txBody>
          <a:bodyPr wrap="none">
            <a:spAutoFit/>
          </a:bodyPr>
          <a:lstStyle/>
          <a:p>
            <a:r>
              <a:rPr lang="en-GB" dirty="0"/>
              <a:t>Developed by Harvard professor Francis Aguilar in 1967</a:t>
            </a:r>
          </a:p>
        </p:txBody>
      </p:sp>
      <p:sp>
        <p:nvSpPr>
          <p:cNvPr id="9" name="Title 1"/>
          <p:cNvSpPr>
            <a:spLocks noGrp="1"/>
          </p:cNvSpPr>
          <p:nvPr>
            <p:ph type="title"/>
          </p:nvPr>
        </p:nvSpPr>
        <p:spPr/>
        <p:txBody>
          <a:bodyPr/>
          <a:lstStyle/>
          <a:p>
            <a:r>
              <a:rPr lang="en-GB" b="1" dirty="0">
                <a:solidFill>
                  <a:schemeClr val="accent4"/>
                </a:solidFill>
                <a:latin typeface="+mn-lt"/>
              </a:rPr>
              <a:t>The Macro Environment</a:t>
            </a:r>
          </a:p>
        </p:txBody>
      </p:sp>
    </p:spTree>
    <p:extLst>
      <p:ext uri="{BB962C8B-B14F-4D97-AF65-F5344CB8AC3E}">
        <p14:creationId xmlns:p14="http://schemas.microsoft.com/office/powerpoint/2010/main" val="1375194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4580" y="786246"/>
            <a:ext cx="7047344" cy="5285508"/>
          </a:xfrm>
          <a:prstGeom prst="rect">
            <a:avLst/>
          </a:prstGeom>
        </p:spPr>
      </p:pic>
      <p:sp>
        <p:nvSpPr>
          <p:cNvPr id="2" name="Title 1"/>
          <p:cNvSpPr>
            <a:spLocks noGrp="1"/>
          </p:cNvSpPr>
          <p:nvPr>
            <p:ph type="title"/>
          </p:nvPr>
        </p:nvSpPr>
        <p:spPr/>
        <p:txBody>
          <a:bodyPr/>
          <a:lstStyle/>
          <a:p>
            <a:r>
              <a:rPr lang="en-GB" b="1" dirty="0">
                <a:solidFill>
                  <a:schemeClr val="accent4"/>
                </a:solidFill>
                <a:latin typeface="+mn-lt"/>
              </a:rPr>
              <a:t>LoNGPEST or LoNGPESTLE </a:t>
            </a:r>
          </a:p>
        </p:txBody>
      </p:sp>
      <p:sp>
        <p:nvSpPr>
          <p:cNvPr id="3" name="Content Placeholder 2"/>
          <p:cNvSpPr>
            <a:spLocks noGrp="1"/>
          </p:cNvSpPr>
          <p:nvPr>
            <p:ph idx="1"/>
          </p:nvPr>
        </p:nvSpPr>
        <p:spPr>
          <a:xfrm>
            <a:off x="838200" y="1507808"/>
            <a:ext cx="10515600" cy="4351338"/>
          </a:xfrm>
        </p:spPr>
        <p:txBody>
          <a:bodyPr>
            <a:normAutofit/>
          </a:bodyPr>
          <a:lstStyle/>
          <a:p>
            <a:pPr marL="0" indent="0">
              <a:buNone/>
            </a:pPr>
            <a:r>
              <a:rPr lang="en-GB" sz="2400" dirty="0"/>
              <a:t>Macro environmental forces can operate at different levels </a:t>
            </a:r>
          </a:p>
          <a:p>
            <a:r>
              <a:rPr lang="en-GB" sz="2400" dirty="0"/>
              <a:t>Local  (Lo)</a:t>
            </a:r>
          </a:p>
          <a:p>
            <a:r>
              <a:rPr lang="en-GB" sz="2400" dirty="0"/>
              <a:t>National (N)</a:t>
            </a:r>
          </a:p>
          <a:p>
            <a:r>
              <a:rPr lang="en-GB" sz="2400" dirty="0"/>
              <a:t>Global (G)</a:t>
            </a:r>
          </a:p>
        </p:txBody>
      </p:sp>
    </p:spTree>
    <p:extLst>
      <p:ext uri="{BB962C8B-B14F-4D97-AF65-F5344CB8AC3E}">
        <p14:creationId xmlns:p14="http://schemas.microsoft.com/office/powerpoint/2010/main" val="2014051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90868" y="3670565"/>
            <a:ext cx="1324408" cy="1324408"/>
          </a:xfrm>
          <a:prstGeom prst="rect">
            <a:avLst/>
          </a:prstGeom>
        </p:spPr>
      </p:pic>
      <p:sp>
        <p:nvSpPr>
          <p:cNvPr id="8194" name="Title 1"/>
          <p:cNvSpPr>
            <a:spLocks noGrp="1"/>
          </p:cNvSpPr>
          <p:nvPr>
            <p:ph type="title"/>
          </p:nvPr>
        </p:nvSpPr>
        <p:spPr>
          <a:xfrm>
            <a:off x="838200" y="365125"/>
            <a:ext cx="7731034" cy="1325563"/>
          </a:xfrm>
        </p:spPr>
        <p:txBody>
          <a:bodyPr/>
          <a:lstStyle/>
          <a:p>
            <a:pPr>
              <a:defRPr/>
            </a:pPr>
            <a:r>
              <a:rPr lang="en-GB" b="1" dirty="0">
                <a:solidFill>
                  <a:schemeClr val="accent4"/>
                </a:solidFill>
                <a:latin typeface="+mn-lt"/>
              </a:rPr>
              <a:t>Retailer - </a:t>
            </a:r>
            <a:r>
              <a:rPr lang="en-GB" b="1" dirty="0" err="1">
                <a:solidFill>
                  <a:schemeClr val="accent4"/>
                </a:solidFill>
                <a:latin typeface="+mn-lt"/>
              </a:rPr>
              <a:t>LoNGPESTEL</a:t>
            </a:r>
            <a:endParaRPr lang="en-GB" b="1" dirty="0">
              <a:solidFill>
                <a:schemeClr val="accent4"/>
              </a:solidFill>
              <a:latin typeface="+mn-lt"/>
            </a:endParaRPr>
          </a:p>
        </p:txBody>
      </p:sp>
      <p:sp>
        <p:nvSpPr>
          <p:cNvPr id="10243" name="Content Placeholder 2"/>
          <p:cNvSpPr>
            <a:spLocks noGrp="1"/>
          </p:cNvSpPr>
          <p:nvPr>
            <p:ph idx="1"/>
          </p:nvPr>
        </p:nvSpPr>
        <p:spPr>
          <a:xfrm>
            <a:off x="720634" y="1690688"/>
            <a:ext cx="6895012" cy="4351338"/>
          </a:xfrm>
        </p:spPr>
        <p:txBody>
          <a:bodyPr>
            <a:normAutofit fontScale="85000" lnSpcReduction="20000"/>
          </a:bodyPr>
          <a:lstStyle/>
          <a:p>
            <a:pPr eaLnBrk="1" hangingPunct="1"/>
            <a:r>
              <a:rPr lang="en-GB" altLang="en-US" b="1" i="1" dirty="0">
                <a:solidFill>
                  <a:schemeClr val="accent4"/>
                </a:solidFill>
              </a:rPr>
              <a:t>Local factors </a:t>
            </a:r>
            <a:r>
              <a:rPr lang="en-GB" altLang="en-US" dirty="0"/>
              <a:t>such as planning permission and local economic growth rates</a:t>
            </a:r>
          </a:p>
          <a:p>
            <a:pPr eaLnBrk="1" hangingPunct="1"/>
            <a:endParaRPr lang="en-GB" altLang="en-US" dirty="0"/>
          </a:p>
          <a:p>
            <a:pPr eaLnBrk="1" hangingPunct="1"/>
            <a:r>
              <a:rPr lang="en-GB" altLang="en-US" b="1" i="1" dirty="0">
                <a:solidFill>
                  <a:schemeClr val="accent4"/>
                </a:solidFill>
              </a:rPr>
              <a:t>National factors</a:t>
            </a:r>
            <a:r>
              <a:rPr lang="en-GB" altLang="en-US" b="1" dirty="0">
                <a:solidFill>
                  <a:schemeClr val="accent4"/>
                </a:solidFill>
              </a:rPr>
              <a:t> </a:t>
            </a:r>
            <a:r>
              <a:rPr lang="en-GB" altLang="en-US" dirty="0"/>
              <a:t>such as UK laws on retailer opening hours and </a:t>
            </a:r>
            <a:r>
              <a:rPr lang="en-GB" altLang="en-US" i="1" dirty="0"/>
              <a:t>trade</a:t>
            </a:r>
            <a:r>
              <a:rPr lang="en-GB" altLang="en-US" dirty="0"/>
              <a:t> descriptions legislation and UK interest rates</a:t>
            </a:r>
          </a:p>
          <a:p>
            <a:pPr eaLnBrk="1" hangingPunct="1"/>
            <a:endParaRPr lang="en-GB" altLang="en-US" dirty="0"/>
          </a:p>
          <a:p>
            <a:pPr eaLnBrk="1" hangingPunct="1"/>
            <a:r>
              <a:rPr lang="en-GB" altLang="en-US" b="1" i="1" dirty="0">
                <a:solidFill>
                  <a:schemeClr val="accent4"/>
                </a:solidFill>
              </a:rPr>
              <a:t>Global factors </a:t>
            </a:r>
            <a:r>
              <a:rPr lang="en-GB" altLang="en-US" dirty="0"/>
              <a:t>such as the opening up of new markets making trade easier. The entry of new member states into the European Union might make it easier to enter that market in terms of meeting the various regulations and provide new expansion opportunities. It might also change the labour force within the UK and recruitment opportunities.</a:t>
            </a:r>
          </a:p>
          <a:p>
            <a:pPr eaLnBrk="1" hangingPunct="1"/>
            <a:endParaRPr lang="en-GB" altLang="en-US" dirty="0"/>
          </a:p>
        </p:txBody>
      </p:sp>
      <p:pic>
        <p:nvPicPr>
          <p:cNvPr id="6" name="Picture 5"/>
          <p:cNvPicPr>
            <a:picLocks noChangeAspect="1"/>
          </p:cNvPicPr>
          <p:nvPr/>
        </p:nvPicPr>
        <p:blipFill>
          <a:blip r:embed="rId4"/>
          <a:stretch>
            <a:fillRect/>
          </a:stretch>
        </p:blipFill>
        <p:spPr>
          <a:xfrm>
            <a:off x="8406913" y="4546942"/>
            <a:ext cx="3064453" cy="1702474"/>
          </a:xfrm>
          <a:prstGeom prst="rect">
            <a:avLst/>
          </a:prstGeom>
        </p:spPr>
      </p:pic>
      <p:pic>
        <p:nvPicPr>
          <p:cNvPr id="3074" name="Picture 2" descr="Download McColl's Logo in SVG Vector or PNG File Format ...">
            <a:extLst>
              <a:ext uri="{FF2B5EF4-FFF2-40B4-BE49-F238E27FC236}">
                <a16:creationId xmlns:a16="http://schemas.microsoft.com/office/drawing/2014/main" id="{01C496FF-8D22-A396-095E-F534909EA18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55909" y="-398591"/>
            <a:ext cx="3896018" cy="259734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ldi rebrands to appear more “contemporary” - Design Week">
            <a:extLst>
              <a:ext uri="{FF2B5EF4-FFF2-40B4-BE49-F238E27FC236}">
                <a16:creationId xmlns:a16="http://schemas.microsoft.com/office/drawing/2014/main" id="{C892BFEB-36ED-67DC-6E89-4BF401BC270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66831" y="1324475"/>
            <a:ext cx="2372483" cy="2597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479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ultimedia online 3" descr="PESTLE Analysis Explained | McDonald's Examples">
            <a:hlinkClick r:id="" action="ppaction://media"/>
            <a:extLst>
              <a:ext uri="{FF2B5EF4-FFF2-40B4-BE49-F238E27FC236}">
                <a16:creationId xmlns:a16="http://schemas.microsoft.com/office/drawing/2014/main" id="{C9C68AFB-35D5-3E3F-1129-4B9B418C140C}"/>
              </a:ext>
            </a:extLst>
          </p:cNvPr>
          <p:cNvPicPr>
            <a:picLocks noRot="1" noChangeAspect="1"/>
          </p:cNvPicPr>
          <p:nvPr>
            <a:videoFile r:link="rId1"/>
          </p:nvPr>
        </p:nvPicPr>
        <p:blipFill>
          <a:blip r:embed="rId3"/>
          <a:stretch>
            <a:fillRect/>
          </a:stretch>
        </p:blipFill>
        <p:spPr>
          <a:xfrm>
            <a:off x="964649" y="160638"/>
            <a:ext cx="10440637" cy="5898961"/>
          </a:xfrm>
          <a:prstGeom prst="rect">
            <a:avLst/>
          </a:prstGeom>
        </p:spPr>
      </p:pic>
    </p:spTree>
    <p:extLst>
      <p:ext uri="{BB962C8B-B14F-4D97-AF65-F5344CB8AC3E}">
        <p14:creationId xmlns:p14="http://schemas.microsoft.com/office/powerpoint/2010/main" val="164143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24F6E31A-F35E-FEFE-6321-F321E6141F91}"/>
              </a:ext>
            </a:extLst>
          </p:cNvPr>
          <p:cNvSpPr>
            <a:spLocks noGrp="1"/>
          </p:cNvSpPr>
          <p:nvPr>
            <p:ph type="title"/>
          </p:nvPr>
        </p:nvSpPr>
        <p:spPr>
          <a:xfrm>
            <a:off x="838201" y="365125"/>
            <a:ext cx="5251316" cy="1807305"/>
          </a:xfrm>
        </p:spPr>
        <p:txBody>
          <a:bodyPr>
            <a:normAutofit/>
          </a:bodyPr>
          <a:lstStyle/>
          <a:p>
            <a:pPr>
              <a:defRPr/>
            </a:pPr>
            <a:r>
              <a:rPr lang="en-GB" b="1" dirty="0">
                <a:solidFill>
                  <a:schemeClr val="accent4"/>
                </a:solidFill>
                <a:latin typeface="+mn-lt"/>
              </a:rPr>
              <a:t>How to PESTEL ?</a:t>
            </a:r>
          </a:p>
        </p:txBody>
      </p:sp>
      <p:sp>
        <p:nvSpPr>
          <p:cNvPr id="11" name="Content Placeholder 2">
            <a:extLst>
              <a:ext uri="{FF2B5EF4-FFF2-40B4-BE49-F238E27FC236}">
                <a16:creationId xmlns:a16="http://schemas.microsoft.com/office/drawing/2014/main" id="{BD211F90-0CEA-CEA9-15C6-D3DAAC6FFEFB}"/>
              </a:ext>
            </a:extLst>
          </p:cNvPr>
          <p:cNvSpPr>
            <a:spLocks noGrp="1"/>
          </p:cNvSpPr>
          <p:nvPr>
            <p:ph idx="1"/>
          </p:nvPr>
        </p:nvSpPr>
        <p:spPr>
          <a:xfrm>
            <a:off x="838200" y="2333297"/>
            <a:ext cx="4619621" cy="3843666"/>
          </a:xfrm>
        </p:spPr>
        <p:txBody>
          <a:bodyPr>
            <a:normAutofit/>
          </a:bodyPr>
          <a:lstStyle/>
          <a:p>
            <a:pPr eaLnBrk="1" hangingPunct="1"/>
            <a:r>
              <a:rPr lang="en-GB" altLang="en-US" sz="1400" b="1" i="1" dirty="0"/>
              <a:t>Impact and Period </a:t>
            </a:r>
            <a:r>
              <a:rPr lang="en-GB" altLang="en-US" sz="1400" dirty="0"/>
              <a:t>Each factor is considered in perspective (for example: short: 1-2 years, medium: 3-5 years, long: 6-10 years), and its impact on our organisation (from small to critical).</a:t>
            </a:r>
          </a:p>
          <a:p>
            <a:pPr eaLnBrk="1" hangingPunct="1"/>
            <a:endParaRPr lang="en-GB" altLang="en-US" sz="1400" dirty="0"/>
          </a:p>
          <a:p>
            <a:pPr eaLnBrk="1" hangingPunct="1"/>
            <a:r>
              <a:rPr lang="en-GB" altLang="en-US" sz="1400" b="1" i="1" dirty="0"/>
              <a:t>How can I know it? </a:t>
            </a:r>
            <a:r>
              <a:rPr lang="en-GB" altLang="en-US" sz="1400" dirty="0"/>
              <a:t>Use experts (internal or external), rely on reports</a:t>
            </a:r>
          </a:p>
          <a:p>
            <a:pPr eaLnBrk="1" hangingPunct="1"/>
            <a:endParaRPr lang="en-GB" altLang="en-US" sz="1400" dirty="0"/>
          </a:p>
          <a:p>
            <a:pPr eaLnBrk="1" hangingPunct="1"/>
            <a:r>
              <a:rPr lang="en-GB" altLang="en-US" sz="1400" b="1" i="1" dirty="0"/>
              <a:t>Are you sure? </a:t>
            </a:r>
            <a:r>
              <a:rPr lang="en-GB" altLang="en-US" sz="1400" dirty="0"/>
              <a:t>In your analysis, indicate your level of certainty as to the occurrence of the trend being reversed.</a:t>
            </a:r>
          </a:p>
          <a:p>
            <a:pPr marL="0" indent="0" eaLnBrk="1" hangingPunct="1">
              <a:buNone/>
            </a:pPr>
            <a:r>
              <a:rPr lang="en-GB" altLang="en-US" sz="1400" dirty="0"/>
              <a:t> </a:t>
            </a:r>
          </a:p>
          <a:p>
            <a:r>
              <a:rPr lang="en-GB" altLang="en-US" sz="1400" b="1" i="1" dirty="0"/>
              <a:t>What next? </a:t>
            </a:r>
            <a:r>
              <a:rPr lang="en-GB" altLang="en-US" sz="1400" dirty="0"/>
              <a:t>Conclusion! Propose your tactics (short period of time to come) and strategy (far into the future) for dealing with the trends you have outlined </a:t>
            </a:r>
          </a:p>
          <a:p>
            <a:pPr eaLnBrk="1" hangingPunct="1"/>
            <a:endParaRPr lang="en-GB" altLang="en-US" sz="1400" dirty="0"/>
          </a:p>
          <a:p>
            <a:pPr marL="0" indent="0" eaLnBrk="1" hangingPunct="1">
              <a:buNone/>
            </a:pPr>
            <a:endParaRPr lang="en-GB" altLang="en-US" sz="1400" dirty="0"/>
          </a:p>
          <a:p>
            <a:pPr eaLnBrk="1" hangingPunct="1"/>
            <a:endParaRPr lang="en-GB" altLang="en-US" sz="1400" dirty="0"/>
          </a:p>
        </p:txBody>
      </p:sp>
      <p:pic>
        <p:nvPicPr>
          <p:cNvPr id="13" name="Obraz 12" descr="Kalkulator, pióro, kompas, pieniądze i papier z drukowanymi wykresami">
            <a:extLst>
              <a:ext uri="{FF2B5EF4-FFF2-40B4-BE49-F238E27FC236}">
                <a16:creationId xmlns:a16="http://schemas.microsoft.com/office/drawing/2014/main" id="{E2CC7A23-53AE-BC8D-6504-173B21DAE51D}"/>
              </a:ext>
            </a:extLst>
          </p:cNvPr>
          <p:cNvPicPr>
            <a:picLocks noChangeAspect="1"/>
          </p:cNvPicPr>
          <p:nvPr/>
        </p:nvPicPr>
        <p:blipFill>
          <a:blip r:embed="rId2">
            <a:extLst>
              <a:ext uri="{28A0092B-C50C-407E-A947-70E740481C1C}">
                <a14:useLocalDpi xmlns:a14="http://schemas.microsoft.com/office/drawing/2010/main" val="0"/>
              </a:ext>
            </a:extLst>
          </a:blip>
          <a:srcRect l="22434" r="25180"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677078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7C33F-CA91-F733-EBD6-ED58599EDF8A}"/>
              </a:ext>
            </a:extLst>
          </p:cNvPr>
          <p:cNvSpPr>
            <a:spLocks noGrp="1"/>
          </p:cNvSpPr>
          <p:nvPr>
            <p:ph type="title"/>
          </p:nvPr>
        </p:nvSpPr>
        <p:spPr/>
        <p:txBody>
          <a:bodyPr/>
          <a:lstStyle/>
          <a:p>
            <a:r>
              <a:rPr lang="en-GB" b="1" dirty="0">
                <a:solidFill>
                  <a:srgbClr val="FFC000"/>
                </a:solidFill>
              </a:rPr>
              <a:t>Group Task</a:t>
            </a:r>
          </a:p>
        </p:txBody>
      </p:sp>
      <p:sp>
        <p:nvSpPr>
          <p:cNvPr id="3" name="Content Placeholder 2">
            <a:extLst>
              <a:ext uri="{FF2B5EF4-FFF2-40B4-BE49-F238E27FC236}">
                <a16:creationId xmlns:a16="http://schemas.microsoft.com/office/drawing/2014/main" id="{ADCEC851-A18E-4C32-15BF-BB1622748ADD}"/>
              </a:ext>
            </a:extLst>
          </p:cNvPr>
          <p:cNvSpPr>
            <a:spLocks noGrp="1"/>
          </p:cNvSpPr>
          <p:nvPr>
            <p:ph idx="1"/>
          </p:nvPr>
        </p:nvSpPr>
        <p:spPr/>
        <p:txBody>
          <a:bodyPr/>
          <a:lstStyle/>
          <a:p>
            <a:pPr marL="0" indent="0">
              <a:buNone/>
            </a:pPr>
            <a:r>
              <a:rPr lang="en-GB" dirty="0"/>
              <a:t>Identify an organisation of your choice and conduct a </a:t>
            </a:r>
            <a:r>
              <a:rPr lang="en-GB" dirty="0" err="1"/>
              <a:t>LoNGPESTEL</a:t>
            </a:r>
            <a:r>
              <a:rPr lang="en-GB" dirty="0"/>
              <a:t>.</a:t>
            </a:r>
          </a:p>
          <a:p>
            <a:pPr marL="0" indent="0">
              <a:buNone/>
            </a:pPr>
            <a:endParaRPr lang="en-GB" dirty="0"/>
          </a:p>
          <a:p>
            <a:pPr marL="0" indent="0">
              <a:buNone/>
            </a:pPr>
            <a:r>
              <a:rPr lang="en-GB" dirty="0"/>
              <a:t>20 minutes</a:t>
            </a:r>
          </a:p>
          <a:p>
            <a:pPr marL="0" indent="0">
              <a:buNone/>
            </a:pPr>
            <a:endParaRPr lang="en-GB" dirty="0"/>
          </a:p>
          <a:p>
            <a:pPr marL="0" indent="0">
              <a:buNone/>
            </a:pPr>
            <a:r>
              <a:rPr lang="en-GB" dirty="0"/>
              <a:t>Groups to feedback to the group</a:t>
            </a:r>
          </a:p>
        </p:txBody>
      </p:sp>
    </p:spTree>
    <p:extLst>
      <p:ext uri="{BB962C8B-B14F-4D97-AF65-F5344CB8AC3E}">
        <p14:creationId xmlns:p14="http://schemas.microsoft.com/office/powerpoint/2010/main" val="4253019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154632" y="398992"/>
            <a:ext cx="6153149" cy="5838945"/>
          </a:xfrm>
          <a:prstGeom prst="rect">
            <a:avLst/>
          </a:prstGeom>
        </p:spPr>
      </p:pic>
      <p:sp>
        <p:nvSpPr>
          <p:cNvPr id="2" name="Content Placeholder 1"/>
          <p:cNvSpPr>
            <a:spLocks noGrp="1"/>
          </p:cNvSpPr>
          <p:nvPr>
            <p:ph idx="1"/>
          </p:nvPr>
        </p:nvSpPr>
        <p:spPr>
          <a:xfrm>
            <a:off x="1475509" y="2629189"/>
            <a:ext cx="8652164" cy="2386157"/>
          </a:xfrm>
        </p:spPr>
        <p:txBody>
          <a:bodyPr>
            <a:normAutofit/>
          </a:bodyPr>
          <a:lstStyle/>
          <a:p>
            <a:pPr marL="0" indent="0" algn="ctr">
              <a:buNone/>
            </a:pPr>
            <a:r>
              <a:rPr lang="en-GB" sz="9600" b="1" dirty="0">
                <a:solidFill>
                  <a:schemeClr val="accent4"/>
                </a:solidFill>
              </a:rPr>
              <a:t>SWOT</a:t>
            </a:r>
          </a:p>
        </p:txBody>
      </p:sp>
    </p:spTree>
    <p:extLst>
      <p:ext uri="{BB962C8B-B14F-4D97-AF65-F5344CB8AC3E}">
        <p14:creationId xmlns:p14="http://schemas.microsoft.com/office/powerpoint/2010/main" val="1808150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838200" y="323561"/>
            <a:ext cx="10515600" cy="1325563"/>
          </a:xfrm>
        </p:spPr>
        <p:txBody>
          <a:bodyPr/>
          <a:lstStyle/>
          <a:p>
            <a:r>
              <a:rPr lang="en-GB" b="1" dirty="0">
                <a:solidFill>
                  <a:schemeClr val="accent4"/>
                </a:solidFill>
                <a:latin typeface="+mn-lt"/>
              </a:rPr>
              <a:t>Strategic Direction</a:t>
            </a:r>
          </a:p>
        </p:txBody>
      </p:sp>
      <p:pic>
        <p:nvPicPr>
          <p:cNvPr id="4" name="Content Placeholder 3"/>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tretch/>
        </p:blipFill>
        <p:spPr>
          <a:xfrm>
            <a:off x="2946131" y="1324991"/>
            <a:ext cx="6474960" cy="4851972"/>
          </a:xfrm>
        </p:spPr>
      </p:pic>
      <p:sp>
        <p:nvSpPr>
          <p:cNvPr id="8" name="Rectangle 7"/>
          <p:cNvSpPr/>
          <p:nvPr/>
        </p:nvSpPr>
        <p:spPr>
          <a:xfrm>
            <a:off x="6879978" y="5807631"/>
            <a:ext cx="5082225" cy="369332"/>
          </a:xfrm>
          <a:prstGeom prst="rect">
            <a:avLst/>
          </a:prstGeom>
        </p:spPr>
        <p:txBody>
          <a:bodyPr wrap="none">
            <a:spAutoFit/>
          </a:bodyPr>
          <a:lstStyle/>
          <a:p>
            <a:r>
              <a:rPr lang="en-GB" dirty="0"/>
              <a:t>Developed by </a:t>
            </a:r>
            <a:r>
              <a:rPr lang="en-GB" dirty="0" err="1"/>
              <a:t>Dr.</a:t>
            </a:r>
            <a:r>
              <a:rPr lang="en-GB" dirty="0"/>
              <a:t> Andrew S. Humphrey in he 1970’s</a:t>
            </a:r>
          </a:p>
        </p:txBody>
      </p:sp>
    </p:spTree>
    <p:extLst>
      <p:ext uri="{BB962C8B-B14F-4D97-AF65-F5344CB8AC3E}">
        <p14:creationId xmlns:p14="http://schemas.microsoft.com/office/powerpoint/2010/main" val="2701254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137" y="175282"/>
            <a:ext cx="10515600" cy="1325563"/>
          </a:xfrm>
        </p:spPr>
        <p:txBody>
          <a:bodyPr/>
          <a:lstStyle/>
          <a:p>
            <a:r>
              <a:rPr lang="en-GB" b="1" dirty="0">
                <a:solidFill>
                  <a:schemeClr val="accent4"/>
                </a:solidFill>
                <a:latin typeface="+mn-lt"/>
              </a:rPr>
              <a:t>Strategic Direction – Growth</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90126" y="1147710"/>
            <a:ext cx="5048509" cy="4892871"/>
          </a:xfrm>
          <a:prstGeom prst="rect">
            <a:avLst/>
          </a:prstGeom>
        </p:spPr>
      </p:pic>
      <p:sp>
        <p:nvSpPr>
          <p:cNvPr id="5" name="Rectangle 4"/>
          <p:cNvSpPr/>
          <p:nvPr/>
        </p:nvSpPr>
        <p:spPr>
          <a:xfrm>
            <a:off x="8443492" y="5671249"/>
            <a:ext cx="3609963" cy="369332"/>
          </a:xfrm>
          <a:prstGeom prst="rect">
            <a:avLst/>
          </a:prstGeom>
        </p:spPr>
        <p:txBody>
          <a:bodyPr wrap="none">
            <a:spAutoFit/>
          </a:bodyPr>
          <a:lstStyle/>
          <a:p>
            <a:r>
              <a:rPr lang="en-GB" dirty="0"/>
              <a:t>Developed by H. Igor </a:t>
            </a:r>
            <a:r>
              <a:rPr lang="en-GB" dirty="0" err="1"/>
              <a:t>Ansoff</a:t>
            </a:r>
            <a:r>
              <a:rPr lang="en-GB" dirty="0"/>
              <a:t> in 1957</a:t>
            </a:r>
          </a:p>
        </p:txBody>
      </p:sp>
    </p:spTree>
    <p:extLst>
      <p:ext uri="{BB962C8B-B14F-4D97-AF65-F5344CB8AC3E}">
        <p14:creationId xmlns:p14="http://schemas.microsoft.com/office/powerpoint/2010/main" val="65572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ultimedia online 3" descr="Ansoff Matrix Explained | McDonald's Examples">
            <a:hlinkClick r:id="" action="ppaction://media"/>
            <a:extLst>
              <a:ext uri="{FF2B5EF4-FFF2-40B4-BE49-F238E27FC236}">
                <a16:creationId xmlns:a16="http://schemas.microsoft.com/office/drawing/2014/main" id="{9B77EC17-33AD-8A17-76EE-BFB76EE30481}"/>
              </a:ext>
            </a:extLst>
          </p:cNvPr>
          <p:cNvPicPr>
            <a:picLocks noRot="1" noChangeAspect="1"/>
          </p:cNvPicPr>
          <p:nvPr>
            <a:videoFile r:link="rId1"/>
          </p:nvPr>
        </p:nvPicPr>
        <p:blipFill>
          <a:blip r:embed="rId3"/>
          <a:stretch>
            <a:fillRect/>
          </a:stretch>
        </p:blipFill>
        <p:spPr>
          <a:xfrm>
            <a:off x="757001" y="86497"/>
            <a:ext cx="10677997" cy="6033069"/>
          </a:xfrm>
          <a:prstGeom prst="rect">
            <a:avLst/>
          </a:prstGeom>
        </p:spPr>
      </p:pic>
    </p:spTree>
    <p:extLst>
      <p:ext uri="{BB962C8B-B14F-4D97-AF65-F5344CB8AC3E}">
        <p14:creationId xmlns:p14="http://schemas.microsoft.com/office/powerpoint/2010/main" val="89748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7C0D8-2991-DA81-DA31-9016E4411C96}"/>
              </a:ext>
            </a:extLst>
          </p:cNvPr>
          <p:cNvSpPr>
            <a:spLocks noGrp="1"/>
          </p:cNvSpPr>
          <p:nvPr>
            <p:ph type="title"/>
          </p:nvPr>
        </p:nvSpPr>
        <p:spPr/>
        <p:txBody>
          <a:bodyPr/>
          <a:lstStyle/>
          <a:p>
            <a:r>
              <a:rPr lang="en-GB" b="1" dirty="0">
                <a:solidFill>
                  <a:srgbClr val="FFC000"/>
                </a:solidFill>
              </a:rPr>
              <a:t>Strategic Drift …</a:t>
            </a:r>
          </a:p>
        </p:txBody>
      </p:sp>
      <p:sp>
        <p:nvSpPr>
          <p:cNvPr id="3" name="Content Placeholder 2">
            <a:extLst>
              <a:ext uri="{FF2B5EF4-FFF2-40B4-BE49-F238E27FC236}">
                <a16:creationId xmlns:a16="http://schemas.microsoft.com/office/drawing/2014/main" id="{4D0418AF-887D-117A-A086-4EA20838FCAA}"/>
              </a:ext>
            </a:extLst>
          </p:cNvPr>
          <p:cNvSpPr>
            <a:spLocks noGrp="1"/>
          </p:cNvSpPr>
          <p:nvPr>
            <p:ph idx="1"/>
          </p:nvPr>
        </p:nvSpPr>
        <p:spPr>
          <a:xfrm>
            <a:off x="427634" y="1894788"/>
            <a:ext cx="2202444" cy="3960544"/>
          </a:xfrm>
        </p:spPr>
        <p:txBody>
          <a:bodyPr>
            <a:normAutofit fontScale="70000" lnSpcReduction="20000"/>
          </a:bodyPr>
          <a:lstStyle/>
          <a:p>
            <a:pPr marL="0" indent="0">
              <a:buNone/>
            </a:pPr>
            <a:r>
              <a:rPr kumimoji="0" lang="en-US" altLang="en-US" sz="2800" b="0" i="0" u="none" strike="noStrike" cap="none" normalizeH="0" baseline="0" dirty="0">
                <a:ln>
                  <a:noFill/>
                </a:ln>
                <a:solidFill>
                  <a:srgbClr val="4B4B4B"/>
                </a:solidFill>
                <a:effectLst/>
                <a:latin typeface="Verdana" panose="020B0604030504040204" pitchFamily="34" charset="0"/>
              </a:rPr>
              <a:t>Strategic drift occurs when the strategy pursued by a business no longer fits with the environment around it. What may have been appropriate at one point is no longer suitable as conditions have changed.</a:t>
            </a:r>
            <a:endParaRPr kumimoji="0" lang="en-US" altLang="en-US" sz="2800" b="0" i="0" u="none" strike="noStrike" cap="none" normalizeH="0" baseline="0" dirty="0">
              <a:ln>
                <a:noFill/>
              </a:ln>
              <a:solidFill>
                <a:srgbClr val="412878"/>
              </a:solidFill>
              <a:effectLst/>
              <a:latin typeface="AQAChevinMedium"/>
            </a:endParaRPr>
          </a:p>
          <a:p>
            <a:pPr marL="0" indent="0">
              <a:buNone/>
            </a:pPr>
            <a:endParaRPr lang="en-GB" dirty="0"/>
          </a:p>
        </p:txBody>
      </p:sp>
      <p:pic>
        <p:nvPicPr>
          <p:cNvPr id="1026" name="Picture 2">
            <a:extLst>
              <a:ext uri="{FF2B5EF4-FFF2-40B4-BE49-F238E27FC236}">
                <a16:creationId xmlns:a16="http://schemas.microsoft.com/office/drawing/2014/main" id="{6CCFAC44-4FC1-4C63-2EE6-ABDF1B154D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0295" y="1503994"/>
            <a:ext cx="9144000" cy="4505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153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524FA-A9AC-36D8-7C2F-6A5F09FBE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F99E3-726D-22ED-E148-B713EA95332E}"/>
              </a:ext>
            </a:extLst>
          </p:cNvPr>
          <p:cNvSpPr>
            <a:spLocks noGrp="1"/>
          </p:cNvSpPr>
          <p:nvPr>
            <p:ph type="title"/>
          </p:nvPr>
        </p:nvSpPr>
        <p:spPr/>
        <p:txBody>
          <a:bodyPr/>
          <a:lstStyle/>
          <a:p>
            <a:r>
              <a:rPr lang="en-GB" b="1" dirty="0">
                <a:solidFill>
                  <a:srgbClr val="FFC000"/>
                </a:solidFill>
              </a:rPr>
              <a:t>Strategic Drift …</a:t>
            </a:r>
          </a:p>
        </p:txBody>
      </p:sp>
      <p:sp>
        <p:nvSpPr>
          <p:cNvPr id="3" name="Content Placeholder 2">
            <a:extLst>
              <a:ext uri="{FF2B5EF4-FFF2-40B4-BE49-F238E27FC236}">
                <a16:creationId xmlns:a16="http://schemas.microsoft.com/office/drawing/2014/main" id="{B4665582-311D-FC4B-D240-91CC8BD92A42}"/>
              </a:ext>
            </a:extLst>
          </p:cNvPr>
          <p:cNvSpPr>
            <a:spLocks noGrp="1"/>
          </p:cNvSpPr>
          <p:nvPr>
            <p:ph idx="1"/>
          </p:nvPr>
        </p:nvSpPr>
        <p:spPr>
          <a:xfrm>
            <a:off x="427634" y="1894788"/>
            <a:ext cx="2202444" cy="3960544"/>
          </a:xfrm>
        </p:spPr>
        <p:txBody>
          <a:bodyPr>
            <a:normAutofit fontScale="70000" lnSpcReduction="20000"/>
          </a:bodyPr>
          <a:lstStyle/>
          <a:p>
            <a:pPr marL="0" indent="0">
              <a:buNone/>
            </a:pPr>
            <a:r>
              <a:rPr kumimoji="0" lang="en-US" altLang="en-US" sz="2800" b="0" i="0" u="none" strike="noStrike" cap="none" normalizeH="0" baseline="0" dirty="0">
                <a:ln>
                  <a:noFill/>
                </a:ln>
                <a:solidFill>
                  <a:srgbClr val="4B4B4B"/>
                </a:solidFill>
                <a:effectLst/>
                <a:latin typeface="Verdana" panose="020B0604030504040204" pitchFamily="34" charset="0"/>
              </a:rPr>
              <a:t>Strategic drift occurs when the strategy pursued by a business no longer fits with the environment around it. What may have been appropriate at one point is no longer suitable as conditions have changed.</a:t>
            </a:r>
            <a:endParaRPr kumimoji="0" lang="en-US" altLang="en-US" sz="2800" b="0" i="0" u="none" strike="noStrike" cap="none" normalizeH="0" baseline="0" dirty="0">
              <a:ln>
                <a:noFill/>
              </a:ln>
              <a:solidFill>
                <a:srgbClr val="412878"/>
              </a:solidFill>
              <a:effectLst/>
              <a:latin typeface="AQAChevinMedium"/>
            </a:endParaRPr>
          </a:p>
          <a:p>
            <a:pPr marL="0" indent="0">
              <a:buNone/>
            </a:pPr>
            <a:endParaRPr lang="en-GB" dirty="0"/>
          </a:p>
        </p:txBody>
      </p:sp>
      <p:pic>
        <p:nvPicPr>
          <p:cNvPr id="1026" name="Picture 2">
            <a:extLst>
              <a:ext uri="{FF2B5EF4-FFF2-40B4-BE49-F238E27FC236}">
                <a16:creationId xmlns:a16="http://schemas.microsoft.com/office/drawing/2014/main" id="{81F686DD-31B6-9511-1A33-532361D711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0295" y="1503994"/>
            <a:ext cx="9144000" cy="45053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kodak Retro Look Metal Wall Sign Camera ManCave GARAGE Photography A4 A5 - Picture 1 of 1">
            <a:extLst>
              <a:ext uri="{FF2B5EF4-FFF2-40B4-BE49-F238E27FC236}">
                <a16:creationId xmlns:a16="http://schemas.microsoft.com/office/drawing/2014/main" id="{DC28FE6A-EBA1-E207-4D07-8979E4602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2879" y="2559034"/>
            <a:ext cx="1584157" cy="1197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932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accent4"/>
                </a:solidFill>
                <a:latin typeface="+mn-lt"/>
              </a:rPr>
              <a:t>Strategic Drift…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1" y="1690688"/>
            <a:ext cx="5191255" cy="3088797"/>
          </a:xfrm>
          <a:prstGeom prst="rect">
            <a:avLst/>
          </a:prstGeom>
        </p:spPr>
      </p:pic>
      <p:sp>
        <p:nvSpPr>
          <p:cNvPr id="3" name="Rectangle 2"/>
          <p:cNvSpPr/>
          <p:nvPr/>
        </p:nvSpPr>
        <p:spPr>
          <a:xfrm>
            <a:off x="838201" y="2067140"/>
            <a:ext cx="5715000" cy="2308324"/>
          </a:xfrm>
          <a:prstGeom prst="rect">
            <a:avLst/>
          </a:prstGeom>
        </p:spPr>
        <p:txBody>
          <a:bodyPr wrap="square">
            <a:spAutoFit/>
          </a:bodyPr>
          <a:lstStyle/>
          <a:p>
            <a:r>
              <a:rPr lang="en-GB" sz="2400" dirty="0"/>
              <a:t>“Strategy is the direction and scope of an organisation over the long term, which achieves advantage for the organisation through its configuration of resources within a changing environment and to fulfil stakeholder expectations”</a:t>
            </a:r>
          </a:p>
        </p:txBody>
      </p:sp>
      <p:sp>
        <p:nvSpPr>
          <p:cNvPr id="5" name="Rectangle 4"/>
          <p:cNvSpPr/>
          <p:nvPr/>
        </p:nvSpPr>
        <p:spPr>
          <a:xfrm>
            <a:off x="838200" y="5615498"/>
            <a:ext cx="3379451" cy="369332"/>
          </a:xfrm>
          <a:prstGeom prst="rect">
            <a:avLst/>
          </a:prstGeom>
        </p:spPr>
        <p:txBody>
          <a:bodyPr wrap="none">
            <a:spAutoFit/>
          </a:bodyPr>
          <a:lstStyle/>
          <a:p>
            <a:r>
              <a:rPr lang="en-GB" dirty="0"/>
              <a:t>Johnson and Scholes (2002) p10#]</a:t>
            </a:r>
          </a:p>
        </p:txBody>
      </p:sp>
    </p:spTree>
    <p:extLst>
      <p:ext uri="{BB962C8B-B14F-4D97-AF65-F5344CB8AC3E}">
        <p14:creationId xmlns:p14="http://schemas.microsoft.com/office/powerpoint/2010/main" val="4190015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B6665-853B-0B77-11C4-9AABF383AEAC}"/>
              </a:ext>
            </a:extLst>
          </p:cNvPr>
          <p:cNvSpPr>
            <a:spLocks noGrp="1"/>
          </p:cNvSpPr>
          <p:nvPr>
            <p:ph type="title"/>
          </p:nvPr>
        </p:nvSpPr>
        <p:spPr/>
        <p:txBody>
          <a:bodyPr/>
          <a:lstStyle/>
          <a:p>
            <a:r>
              <a:rPr lang="en-GB" b="1" dirty="0">
                <a:solidFill>
                  <a:srgbClr val="FFC000"/>
                </a:solidFill>
              </a:rPr>
              <a:t>Today we have covered:</a:t>
            </a:r>
          </a:p>
        </p:txBody>
      </p:sp>
      <p:sp>
        <p:nvSpPr>
          <p:cNvPr id="3" name="Content Placeholder 2">
            <a:extLst>
              <a:ext uri="{FF2B5EF4-FFF2-40B4-BE49-F238E27FC236}">
                <a16:creationId xmlns:a16="http://schemas.microsoft.com/office/drawing/2014/main" id="{812029D1-7739-E37F-4505-325934FDF69A}"/>
              </a:ext>
            </a:extLst>
          </p:cNvPr>
          <p:cNvSpPr>
            <a:spLocks noGrp="1"/>
          </p:cNvSpPr>
          <p:nvPr>
            <p:ph idx="1"/>
          </p:nvPr>
        </p:nvSpPr>
        <p:spPr/>
        <p:txBody>
          <a:bodyPr/>
          <a:lstStyle/>
          <a:p>
            <a:r>
              <a:rPr lang="en-GB" sz="2800" dirty="0"/>
              <a:t>Introduction to this module [401MAN – The Business Environment]</a:t>
            </a:r>
          </a:p>
          <a:p>
            <a:pPr marL="0" indent="0">
              <a:buNone/>
            </a:pPr>
            <a:endParaRPr lang="en-GB" sz="2800" dirty="0"/>
          </a:p>
          <a:p>
            <a:r>
              <a:rPr lang="en-GB" sz="2800" dirty="0"/>
              <a:t>Overview of assignments </a:t>
            </a:r>
            <a:r>
              <a:rPr lang="en-GB" dirty="0"/>
              <a:t>1</a:t>
            </a:r>
            <a:endParaRPr lang="en-GB" sz="2800" dirty="0"/>
          </a:p>
          <a:p>
            <a:pPr marL="0" indent="0">
              <a:buNone/>
            </a:pPr>
            <a:endParaRPr lang="en-GB" sz="2800" dirty="0"/>
          </a:p>
          <a:p>
            <a:r>
              <a:rPr lang="en-GB" sz="2800" dirty="0"/>
              <a:t>What is the business environment?</a:t>
            </a:r>
          </a:p>
          <a:p>
            <a:pPr marL="0" indent="0">
              <a:buNone/>
            </a:pPr>
            <a:endParaRPr lang="en-GB" dirty="0"/>
          </a:p>
        </p:txBody>
      </p:sp>
    </p:spTree>
    <p:extLst>
      <p:ext uri="{BB962C8B-B14F-4D97-AF65-F5344CB8AC3E}">
        <p14:creationId xmlns:p14="http://schemas.microsoft.com/office/powerpoint/2010/main" val="4218943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accent4"/>
                </a:solidFill>
                <a:latin typeface="+mn-lt"/>
              </a:rPr>
              <a:t>References</a:t>
            </a:r>
          </a:p>
        </p:txBody>
      </p:sp>
      <p:sp>
        <p:nvSpPr>
          <p:cNvPr id="3" name="Content Placeholder 2"/>
          <p:cNvSpPr>
            <a:spLocks noGrp="1"/>
          </p:cNvSpPr>
          <p:nvPr>
            <p:ph idx="1"/>
          </p:nvPr>
        </p:nvSpPr>
        <p:spPr>
          <a:xfrm>
            <a:off x="838200" y="1451553"/>
            <a:ext cx="10515600" cy="4351338"/>
          </a:xfrm>
        </p:spPr>
        <p:txBody>
          <a:bodyPr>
            <a:normAutofit fontScale="70000" lnSpcReduction="20000"/>
          </a:bodyPr>
          <a:lstStyle/>
          <a:p>
            <a:r>
              <a:rPr lang="en-GB" sz="2900" dirty="0"/>
              <a:t>Boddy, D. (2017). </a:t>
            </a:r>
            <a:r>
              <a:rPr lang="en-GB" sz="2900" i="1" dirty="0"/>
              <a:t>Management: An Introduction</a:t>
            </a:r>
            <a:r>
              <a:rPr lang="en-GB" sz="2900" dirty="0"/>
              <a:t> (7th ed.). Harlow: Pearson.</a:t>
            </a:r>
          </a:p>
          <a:p>
            <a:r>
              <a:rPr lang="en-GB" sz="2900" dirty="0"/>
              <a:t>Freeman, R.E. (1984) </a:t>
            </a:r>
            <a:r>
              <a:rPr lang="en-GB" sz="2900" i="1" dirty="0"/>
              <a:t>Strategic Management: A Stakeholder Approach, Boston: Pitman</a:t>
            </a:r>
          </a:p>
          <a:p>
            <a:r>
              <a:rPr lang="en-GB" sz="2900" dirty="0"/>
              <a:t>Harrison, A (2014) </a:t>
            </a:r>
            <a:r>
              <a:rPr lang="en-GB" sz="2900" i="1" dirty="0"/>
              <a:t>Business Environment in a Global Context </a:t>
            </a:r>
            <a:r>
              <a:rPr lang="en-GB" sz="2900" dirty="0"/>
              <a:t>(2</a:t>
            </a:r>
            <a:r>
              <a:rPr lang="en-GB" sz="2900" baseline="30000" dirty="0"/>
              <a:t>nd</a:t>
            </a:r>
            <a:r>
              <a:rPr lang="en-GB" sz="2900" dirty="0"/>
              <a:t> ed.) Oxford: Oxford University Press</a:t>
            </a:r>
          </a:p>
          <a:p>
            <a:r>
              <a:rPr lang="en-GB" sz="2900" dirty="0"/>
              <a:t>JOHNSON, G., WHITTINGTON, R., and SCHOLES, K., (2011) </a:t>
            </a:r>
            <a:r>
              <a:rPr lang="en-GB" sz="2900" i="1" dirty="0"/>
              <a:t>Exploring Strategy </a:t>
            </a:r>
            <a:r>
              <a:rPr lang="en-GB" sz="2900" dirty="0"/>
              <a:t>9</a:t>
            </a:r>
            <a:r>
              <a:rPr lang="en-GB" sz="2900" baseline="30000" dirty="0"/>
              <a:t>th</a:t>
            </a:r>
            <a:r>
              <a:rPr lang="en-GB" sz="2900" dirty="0"/>
              <a:t> Ed Essex: Pearson Education Ltd.</a:t>
            </a:r>
          </a:p>
          <a:p>
            <a:r>
              <a:rPr lang="en-GB" sz="2900" dirty="0"/>
              <a:t>Mullins, L. J. (2016). </a:t>
            </a:r>
            <a:r>
              <a:rPr lang="en-GB" sz="2900" i="1" dirty="0"/>
              <a:t>Management &amp; Organisational Behaviour.</a:t>
            </a:r>
            <a:r>
              <a:rPr lang="en-GB" sz="2900" dirty="0"/>
              <a:t> (11th, Ed.) Harlow: Pearson.</a:t>
            </a:r>
          </a:p>
          <a:p>
            <a:r>
              <a:rPr lang="en-GB" sz="2900" dirty="0"/>
              <a:t>Needle, D. &amp; Burns, J. (2015). </a:t>
            </a:r>
            <a:r>
              <a:rPr lang="en-GB" sz="2900" i="1" dirty="0"/>
              <a:t>Business in Context.</a:t>
            </a:r>
            <a:r>
              <a:rPr lang="en-GB" sz="2900" dirty="0"/>
              <a:t> (7</a:t>
            </a:r>
            <a:r>
              <a:rPr lang="en-GB" sz="2900" baseline="30000" dirty="0"/>
              <a:t>th</a:t>
            </a:r>
            <a:r>
              <a:rPr lang="en-GB" sz="2900" dirty="0"/>
              <a:t> ed.). Andover: Cengage.</a:t>
            </a:r>
          </a:p>
          <a:p>
            <a:r>
              <a:rPr lang="en-GB" sz="2900" dirty="0"/>
              <a:t>Nutt, P.C. (2002) </a:t>
            </a:r>
            <a:r>
              <a:rPr lang="en-GB" sz="2900" i="1" dirty="0"/>
              <a:t>Why decisions fail. New York: </a:t>
            </a:r>
            <a:r>
              <a:rPr lang="en-GB" sz="2900" i="1" dirty="0" err="1"/>
              <a:t>Berrett</a:t>
            </a:r>
            <a:r>
              <a:rPr lang="en-GB" sz="2900" i="1" dirty="0"/>
              <a:t>-Koehler</a:t>
            </a:r>
          </a:p>
          <a:p>
            <a:r>
              <a:rPr lang="en-GB" sz="2900" dirty="0"/>
              <a:t>Palmer, A &amp; Hartley B. (2012) </a:t>
            </a:r>
            <a:r>
              <a:rPr lang="en-GB" sz="2900" i="1" dirty="0"/>
              <a:t>The Business Environment</a:t>
            </a:r>
            <a:r>
              <a:rPr lang="en-GB" sz="2900" dirty="0"/>
              <a:t>, (7</a:t>
            </a:r>
            <a:r>
              <a:rPr lang="en-GB" sz="2900" baseline="30000" dirty="0"/>
              <a:t>th</a:t>
            </a:r>
            <a:r>
              <a:rPr lang="en-GB" sz="2900" dirty="0"/>
              <a:t> ed.) Maidenhead: McGraw </a:t>
            </a:r>
            <a:r>
              <a:rPr lang="en-GB" sz="2900" dirty="0" err="1"/>
              <a:t>Hil</a:t>
            </a:r>
            <a:endParaRPr lang="en-GB" sz="2900" dirty="0"/>
          </a:p>
          <a:p>
            <a:r>
              <a:rPr lang="en-GB" sz="2900" dirty="0" err="1"/>
              <a:t>Pestleweb</a:t>
            </a:r>
            <a:r>
              <a:rPr lang="en-GB" sz="2900" dirty="0"/>
              <a:t> (2014) </a:t>
            </a:r>
            <a:r>
              <a:rPr lang="en-GB" sz="2900" i="1" dirty="0"/>
              <a:t>PESTLE Analysis through Pictures: </a:t>
            </a:r>
            <a:r>
              <a:rPr lang="en-GB" sz="2900" i="1" dirty="0" err="1"/>
              <a:t>PESTLEWeb</a:t>
            </a:r>
            <a:r>
              <a:rPr lang="en-GB" sz="2900" dirty="0"/>
              <a:t> [online] available from &lt;</a:t>
            </a:r>
            <a:r>
              <a:rPr lang="en-GB" sz="2900" dirty="0">
                <a:hlinkClick r:id="rId3"/>
              </a:rPr>
              <a:t>https://pestleanalysis.com/pestleweb/</a:t>
            </a:r>
            <a:r>
              <a:rPr lang="en-GB" sz="2900" dirty="0"/>
              <a:t> &gt; [21 October 2018]</a:t>
            </a:r>
          </a:p>
          <a:p>
            <a:r>
              <a:rPr lang="en-GB" sz="2900" dirty="0"/>
              <a:t>Pitt, M R &amp; </a:t>
            </a:r>
            <a:r>
              <a:rPr lang="en-GB" sz="2900" dirty="0" err="1"/>
              <a:t>Koufopoulos</a:t>
            </a:r>
            <a:r>
              <a:rPr lang="en-GB" sz="2900" dirty="0"/>
              <a:t>, D, (2012) </a:t>
            </a:r>
            <a:r>
              <a:rPr lang="en-GB" sz="2900" i="1" dirty="0"/>
              <a:t>Essentials of Strategic Management, </a:t>
            </a:r>
            <a:r>
              <a:rPr lang="en-GB" sz="2900" dirty="0" err="1"/>
              <a:t>London:Sage</a:t>
            </a:r>
            <a:endParaRPr lang="en-GB" sz="2900" dirty="0"/>
          </a:p>
          <a:p>
            <a:r>
              <a:rPr lang="en-GB" sz="2900" dirty="0"/>
              <a:t>Worthington, I. &amp; Britton, C. (2015). </a:t>
            </a:r>
            <a:r>
              <a:rPr lang="en-GB" sz="2900" i="1" dirty="0"/>
              <a:t>The Business Environment</a:t>
            </a:r>
            <a:r>
              <a:rPr lang="en-GB" sz="2900" dirty="0"/>
              <a:t> (7th ed.). Harlow: Pearson.</a:t>
            </a:r>
          </a:p>
          <a:p>
            <a:endParaRPr lang="en-GB" dirty="0"/>
          </a:p>
        </p:txBody>
      </p:sp>
    </p:spTree>
    <p:extLst>
      <p:ext uri="{BB962C8B-B14F-4D97-AF65-F5344CB8AC3E}">
        <p14:creationId xmlns:p14="http://schemas.microsoft.com/office/powerpoint/2010/main" val="1018090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1452</TotalTime>
  <Words>1257</Words>
  <Application>Microsoft Macintosh PowerPoint</Application>
  <PresentationFormat>Panoramiczny</PresentationFormat>
  <Paragraphs>170</Paragraphs>
  <Slides>29</Slides>
  <Notes>3</Notes>
  <HiddenSlides>0</HiddenSlides>
  <MMClips>2</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29</vt:i4>
      </vt:variant>
    </vt:vector>
  </HeadingPairs>
  <TitlesOfParts>
    <vt:vector size="35" baseType="lpstr">
      <vt:lpstr>AQAChevinMedium</vt:lpstr>
      <vt:lpstr>Arial</vt:lpstr>
      <vt:lpstr>Calibri</vt:lpstr>
      <vt:lpstr>Calibri Light</vt:lpstr>
      <vt:lpstr>Verdana</vt:lpstr>
      <vt:lpstr>Office Theme</vt:lpstr>
      <vt:lpstr>Prezentacja programu PowerPoint</vt:lpstr>
      <vt:lpstr>Welcome Back! And Welcome to CUW!</vt:lpstr>
      <vt:lpstr>Prezentacja programu PowerPoint</vt:lpstr>
      <vt:lpstr>Prezentacja programu PowerPoint</vt:lpstr>
      <vt:lpstr>Learning Outcomes</vt:lpstr>
      <vt:lpstr>Assignment 1 – 1,000 word report     Assignment 2 – 2,000 word report  </vt:lpstr>
      <vt:lpstr>Assignment 1</vt:lpstr>
      <vt:lpstr>Assignment 1</vt:lpstr>
      <vt:lpstr>Learning Outcomes</vt:lpstr>
      <vt:lpstr>Essential Reading </vt:lpstr>
      <vt:lpstr>Break</vt:lpstr>
      <vt:lpstr>Prezentacja programu PowerPoint</vt:lpstr>
      <vt:lpstr>Prezentacja programu PowerPoint</vt:lpstr>
      <vt:lpstr>Prezentacja programu PowerPoint</vt:lpstr>
      <vt:lpstr>The Macro Environment</vt:lpstr>
      <vt:lpstr>LoNGPEST or LoNGPESTLE </vt:lpstr>
      <vt:lpstr>Retailer - LoNGPESTEL</vt:lpstr>
      <vt:lpstr>Prezentacja programu PowerPoint</vt:lpstr>
      <vt:lpstr>How to PESTEL ?</vt:lpstr>
      <vt:lpstr>Group Task</vt:lpstr>
      <vt:lpstr>Prezentacja programu PowerPoint</vt:lpstr>
      <vt:lpstr>Strategic Direction</vt:lpstr>
      <vt:lpstr>Strategic Direction – Growth</vt:lpstr>
      <vt:lpstr>Prezentacja programu PowerPoint</vt:lpstr>
      <vt:lpstr>Strategic Drift …</vt:lpstr>
      <vt:lpstr>Strategic Drift …</vt:lpstr>
      <vt:lpstr>Strategic Drift…</vt:lpstr>
      <vt:lpstr>Today we have covered:</vt:lpstr>
      <vt:lpstr>References</vt:lpstr>
    </vt:vector>
  </TitlesOfParts>
  <Company>Coventry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Clare Garrick</dc:creator>
  <cp:lastModifiedBy>Pawel Sawicki</cp:lastModifiedBy>
  <cp:revision>729</cp:revision>
  <cp:lastPrinted>2019-03-21T13:10:46Z</cp:lastPrinted>
  <dcterms:created xsi:type="dcterms:W3CDTF">2019-03-13T11:10:55Z</dcterms:created>
  <dcterms:modified xsi:type="dcterms:W3CDTF">2025-01-16T09:52:57Z</dcterms:modified>
</cp:coreProperties>
</file>